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8" r:id="rId2"/>
  </p:sldIdLst>
  <p:sldSz cx="28440063" cy="39239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086"/>
    <a:srgbClr val="004999"/>
    <a:srgbClr val="DFD0BF"/>
    <a:srgbClr val="1D4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9"/>
    <p:restoredTop sz="94638"/>
  </p:normalViewPr>
  <p:slideViewPr>
    <p:cSldViewPr snapToGrid="0">
      <p:cViewPr>
        <p:scale>
          <a:sx n="39" d="100"/>
          <a:sy n="39" d="100"/>
        </p:scale>
        <p:origin x="28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1BB01-B9F1-B249-8764-7FEFD285E447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1143000"/>
            <a:ext cx="2235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DDFEA-7F80-114D-8DB8-C09ADF9B74A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080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1pPr>
    <a:lvl2pPr marL="423413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2pPr>
    <a:lvl3pPr marL="846826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3pPr>
    <a:lvl4pPr marL="1270240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4pPr>
    <a:lvl5pPr marL="1693653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5pPr>
    <a:lvl6pPr marL="2117066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6pPr>
    <a:lvl7pPr marL="2540478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7pPr>
    <a:lvl8pPr marL="2963891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8pPr>
    <a:lvl9pPr marL="3387305" algn="l" defTabSz="846826" rtl="0" eaLnBrk="1" latinLnBrk="1" hangingPunct="1">
      <a:defRPr sz="11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005" y="6421891"/>
            <a:ext cx="24174054" cy="13661272"/>
          </a:xfrm>
        </p:spPr>
        <p:txBody>
          <a:bodyPr anchor="b"/>
          <a:lstStyle>
            <a:lvl1pPr algn="ctr">
              <a:defRPr sz="186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5008" y="20609994"/>
            <a:ext cx="21330047" cy="9473872"/>
          </a:xfrm>
        </p:spPr>
        <p:txBody>
          <a:bodyPr/>
          <a:lstStyle>
            <a:lvl1pPr marL="0" indent="0" algn="ctr">
              <a:buNone/>
              <a:defRPr sz="7464"/>
            </a:lvl1pPr>
            <a:lvl2pPr marL="1421983" indent="0" algn="ctr">
              <a:buNone/>
              <a:defRPr sz="6220"/>
            </a:lvl2pPr>
            <a:lvl3pPr marL="2843967" indent="0" algn="ctr">
              <a:buNone/>
              <a:defRPr sz="5598"/>
            </a:lvl3pPr>
            <a:lvl4pPr marL="4265950" indent="0" algn="ctr">
              <a:buNone/>
              <a:defRPr sz="4976"/>
            </a:lvl4pPr>
            <a:lvl5pPr marL="5687934" indent="0" algn="ctr">
              <a:buNone/>
              <a:defRPr sz="4976"/>
            </a:lvl5pPr>
            <a:lvl6pPr marL="7109917" indent="0" algn="ctr">
              <a:buNone/>
              <a:defRPr sz="4976"/>
            </a:lvl6pPr>
            <a:lvl7pPr marL="8531901" indent="0" algn="ctr">
              <a:buNone/>
              <a:defRPr sz="4976"/>
            </a:lvl7pPr>
            <a:lvl8pPr marL="9953884" indent="0" algn="ctr">
              <a:buNone/>
              <a:defRPr sz="4976"/>
            </a:lvl8pPr>
            <a:lvl9pPr marL="11375868" indent="0" algn="ctr">
              <a:buNone/>
              <a:defRPr sz="49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2563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825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0444" y="9782718"/>
            <a:ext cx="24529554" cy="16322674"/>
          </a:xfrm>
        </p:spPr>
        <p:txBody>
          <a:bodyPr anchor="b"/>
          <a:lstStyle>
            <a:lvl1pPr>
              <a:defRPr sz="186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0444" y="26259811"/>
            <a:ext cx="24529554" cy="8583709"/>
          </a:xfrm>
        </p:spPr>
        <p:txBody>
          <a:bodyPr/>
          <a:lstStyle>
            <a:lvl1pPr marL="0" indent="0">
              <a:buNone/>
              <a:defRPr sz="7464">
                <a:solidFill>
                  <a:schemeClr val="tx1">
                    <a:tint val="82000"/>
                  </a:schemeClr>
                </a:solidFill>
              </a:defRPr>
            </a:lvl1pPr>
            <a:lvl2pPr marL="1421983" indent="0">
              <a:buNone/>
              <a:defRPr sz="6220">
                <a:solidFill>
                  <a:schemeClr val="tx1">
                    <a:tint val="82000"/>
                  </a:schemeClr>
                </a:solidFill>
              </a:defRPr>
            </a:lvl2pPr>
            <a:lvl3pPr marL="2843967" indent="0">
              <a:buNone/>
              <a:defRPr sz="5598">
                <a:solidFill>
                  <a:schemeClr val="tx1">
                    <a:tint val="82000"/>
                  </a:schemeClr>
                </a:solidFill>
              </a:defRPr>
            </a:lvl3pPr>
            <a:lvl4pPr marL="4265950" indent="0">
              <a:buNone/>
              <a:defRPr sz="4976">
                <a:solidFill>
                  <a:schemeClr val="tx1">
                    <a:tint val="82000"/>
                  </a:schemeClr>
                </a:solidFill>
              </a:defRPr>
            </a:lvl4pPr>
            <a:lvl5pPr marL="5687934" indent="0">
              <a:buNone/>
              <a:defRPr sz="4976">
                <a:solidFill>
                  <a:schemeClr val="tx1">
                    <a:tint val="82000"/>
                  </a:schemeClr>
                </a:solidFill>
              </a:defRPr>
            </a:lvl5pPr>
            <a:lvl6pPr marL="7109917" indent="0">
              <a:buNone/>
              <a:defRPr sz="4976">
                <a:solidFill>
                  <a:schemeClr val="tx1">
                    <a:tint val="82000"/>
                  </a:schemeClr>
                </a:solidFill>
              </a:defRPr>
            </a:lvl6pPr>
            <a:lvl7pPr marL="8531901" indent="0">
              <a:buNone/>
              <a:defRPr sz="4976">
                <a:solidFill>
                  <a:schemeClr val="tx1">
                    <a:tint val="82000"/>
                  </a:schemeClr>
                </a:solidFill>
              </a:defRPr>
            </a:lvl7pPr>
            <a:lvl8pPr marL="9953884" indent="0">
              <a:buNone/>
              <a:defRPr sz="4976">
                <a:solidFill>
                  <a:schemeClr val="tx1">
                    <a:tint val="82000"/>
                  </a:schemeClr>
                </a:solidFill>
              </a:defRPr>
            </a:lvl8pPr>
            <a:lvl9pPr marL="11375868" indent="0">
              <a:buNone/>
              <a:defRPr sz="49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934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5254" y="10445787"/>
            <a:ext cx="12087027" cy="24897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97782" y="10445787"/>
            <a:ext cx="12087027" cy="24897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238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959" y="2089166"/>
            <a:ext cx="24529554" cy="75845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8962" y="9619210"/>
            <a:ext cx="12031478" cy="4714226"/>
          </a:xfrm>
        </p:spPr>
        <p:txBody>
          <a:bodyPr anchor="b"/>
          <a:lstStyle>
            <a:lvl1pPr marL="0" indent="0">
              <a:buNone/>
              <a:defRPr sz="7464" b="1"/>
            </a:lvl1pPr>
            <a:lvl2pPr marL="1421983" indent="0">
              <a:buNone/>
              <a:defRPr sz="6220" b="1"/>
            </a:lvl2pPr>
            <a:lvl3pPr marL="2843967" indent="0">
              <a:buNone/>
              <a:defRPr sz="5598" b="1"/>
            </a:lvl3pPr>
            <a:lvl4pPr marL="4265950" indent="0">
              <a:buNone/>
              <a:defRPr sz="4976" b="1"/>
            </a:lvl4pPr>
            <a:lvl5pPr marL="5687934" indent="0">
              <a:buNone/>
              <a:defRPr sz="4976" b="1"/>
            </a:lvl5pPr>
            <a:lvl6pPr marL="7109917" indent="0">
              <a:buNone/>
              <a:defRPr sz="4976" b="1"/>
            </a:lvl6pPr>
            <a:lvl7pPr marL="8531901" indent="0">
              <a:buNone/>
              <a:defRPr sz="4976" b="1"/>
            </a:lvl7pPr>
            <a:lvl8pPr marL="9953884" indent="0">
              <a:buNone/>
              <a:defRPr sz="4976" b="1"/>
            </a:lvl8pPr>
            <a:lvl9pPr marL="11375868" indent="0">
              <a:buNone/>
              <a:defRPr sz="49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8962" y="14333436"/>
            <a:ext cx="12031478" cy="21082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397783" y="9619210"/>
            <a:ext cx="12090731" cy="4714226"/>
          </a:xfrm>
        </p:spPr>
        <p:txBody>
          <a:bodyPr anchor="b"/>
          <a:lstStyle>
            <a:lvl1pPr marL="0" indent="0">
              <a:buNone/>
              <a:defRPr sz="7464" b="1"/>
            </a:lvl1pPr>
            <a:lvl2pPr marL="1421983" indent="0">
              <a:buNone/>
              <a:defRPr sz="6220" b="1"/>
            </a:lvl2pPr>
            <a:lvl3pPr marL="2843967" indent="0">
              <a:buNone/>
              <a:defRPr sz="5598" b="1"/>
            </a:lvl3pPr>
            <a:lvl4pPr marL="4265950" indent="0">
              <a:buNone/>
              <a:defRPr sz="4976" b="1"/>
            </a:lvl4pPr>
            <a:lvl5pPr marL="5687934" indent="0">
              <a:buNone/>
              <a:defRPr sz="4976" b="1"/>
            </a:lvl5pPr>
            <a:lvl6pPr marL="7109917" indent="0">
              <a:buNone/>
              <a:defRPr sz="4976" b="1"/>
            </a:lvl6pPr>
            <a:lvl7pPr marL="8531901" indent="0">
              <a:buNone/>
              <a:defRPr sz="4976" b="1"/>
            </a:lvl7pPr>
            <a:lvl8pPr marL="9953884" indent="0">
              <a:buNone/>
              <a:defRPr sz="4976" b="1"/>
            </a:lvl8pPr>
            <a:lvl9pPr marL="11375868" indent="0">
              <a:buNone/>
              <a:defRPr sz="49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397783" y="14333436"/>
            <a:ext cx="12090731" cy="21082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4957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218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694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958" y="2615988"/>
            <a:ext cx="9172661" cy="9155959"/>
          </a:xfrm>
        </p:spPr>
        <p:txBody>
          <a:bodyPr anchor="b"/>
          <a:lstStyle>
            <a:lvl1pPr>
              <a:defRPr sz="9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0731" y="5649817"/>
            <a:ext cx="14397782" cy="27885709"/>
          </a:xfrm>
        </p:spPr>
        <p:txBody>
          <a:bodyPr/>
          <a:lstStyle>
            <a:lvl1pPr>
              <a:defRPr sz="9953"/>
            </a:lvl1pPr>
            <a:lvl2pPr>
              <a:defRPr sz="8709"/>
            </a:lvl2pPr>
            <a:lvl3pPr>
              <a:defRPr sz="7464"/>
            </a:lvl3pPr>
            <a:lvl4pPr>
              <a:defRPr sz="6220"/>
            </a:lvl4pPr>
            <a:lvl5pPr>
              <a:defRPr sz="6220"/>
            </a:lvl5pPr>
            <a:lvl6pPr>
              <a:defRPr sz="6220"/>
            </a:lvl6pPr>
            <a:lvl7pPr>
              <a:defRPr sz="6220"/>
            </a:lvl7pPr>
            <a:lvl8pPr>
              <a:defRPr sz="6220"/>
            </a:lvl8pPr>
            <a:lvl9pPr>
              <a:defRPr sz="62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58958" y="11771947"/>
            <a:ext cx="9172661" cy="21808989"/>
          </a:xfrm>
        </p:spPr>
        <p:txBody>
          <a:bodyPr/>
          <a:lstStyle>
            <a:lvl1pPr marL="0" indent="0">
              <a:buNone/>
              <a:defRPr sz="4976"/>
            </a:lvl1pPr>
            <a:lvl2pPr marL="1421983" indent="0">
              <a:buNone/>
              <a:defRPr sz="4354"/>
            </a:lvl2pPr>
            <a:lvl3pPr marL="2843967" indent="0">
              <a:buNone/>
              <a:defRPr sz="3732"/>
            </a:lvl3pPr>
            <a:lvl4pPr marL="4265950" indent="0">
              <a:buNone/>
              <a:defRPr sz="3110"/>
            </a:lvl4pPr>
            <a:lvl5pPr marL="5687934" indent="0">
              <a:buNone/>
              <a:defRPr sz="3110"/>
            </a:lvl5pPr>
            <a:lvl6pPr marL="7109917" indent="0">
              <a:buNone/>
              <a:defRPr sz="3110"/>
            </a:lvl6pPr>
            <a:lvl7pPr marL="8531901" indent="0">
              <a:buNone/>
              <a:defRPr sz="3110"/>
            </a:lvl7pPr>
            <a:lvl8pPr marL="9953884" indent="0">
              <a:buNone/>
              <a:defRPr sz="3110"/>
            </a:lvl8pPr>
            <a:lvl9pPr marL="11375868" indent="0">
              <a:buNone/>
              <a:defRPr sz="31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186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958" y="2615988"/>
            <a:ext cx="9172661" cy="9155959"/>
          </a:xfrm>
        </p:spPr>
        <p:txBody>
          <a:bodyPr anchor="b"/>
          <a:lstStyle>
            <a:lvl1pPr>
              <a:defRPr sz="9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90731" y="5649817"/>
            <a:ext cx="14397782" cy="27885709"/>
          </a:xfrm>
        </p:spPr>
        <p:txBody>
          <a:bodyPr anchor="t"/>
          <a:lstStyle>
            <a:lvl1pPr marL="0" indent="0">
              <a:buNone/>
              <a:defRPr sz="9953"/>
            </a:lvl1pPr>
            <a:lvl2pPr marL="1421983" indent="0">
              <a:buNone/>
              <a:defRPr sz="8709"/>
            </a:lvl2pPr>
            <a:lvl3pPr marL="2843967" indent="0">
              <a:buNone/>
              <a:defRPr sz="7464"/>
            </a:lvl3pPr>
            <a:lvl4pPr marL="4265950" indent="0">
              <a:buNone/>
              <a:defRPr sz="6220"/>
            </a:lvl4pPr>
            <a:lvl5pPr marL="5687934" indent="0">
              <a:buNone/>
              <a:defRPr sz="6220"/>
            </a:lvl5pPr>
            <a:lvl6pPr marL="7109917" indent="0">
              <a:buNone/>
              <a:defRPr sz="6220"/>
            </a:lvl6pPr>
            <a:lvl7pPr marL="8531901" indent="0">
              <a:buNone/>
              <a:defRPr sz="6220"/>
            </a:lvl7pPr>
            <a:lvl8pPr marL="9953884" indent="0">
              <a:buNone/>
              <a:defRPr sz="6220"/>
            </a:lvl8pPr>
            <a:lvl9pPr marL="11375868" indent="0">
              <a:buNone/>
              <a:defRPr sz="62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58958" y="11771947"/>
            <a:ext cx="9172661" cy="21808989"/>
          </a:xfrm>
        </p:spPr>
        <p:txBody>
          <a:bodyPr/>
          <a:lstStyle>
            <a:lvl1pPr marL="0" indent="0">
              <a:buNone/>
              <a:defRPr sz="4976"/>
            </a:lvl1pPr>
            <a:lvl2pPr marL="1421983" indent="0">
              <a:buNone/>
              <a:defRPr sz="4354"/>
            </a:lvl2pPr>
            <a:lvl3pPr marL="2843967" indent="0">
              <a:buNone/>
              <a:defRPr sz="3732"/>
            </a:lvl3pPr>
            <a:lvl4pPr marL="4265950" indent="0">
              <a:buNone/>
              <a:defRPr sz="3110"/>
            </a:lvl4pPr>
            <a:lvl5pPr marL="5687934" indent="0">
              <a:buNone/>
              <a:defRPr sz="3110"/>
            </a:lvl5pPr>
            <a:lvl6pPr marL="7109917" indent="0">
              <a:buNone/>
              <a:defRPr sz="3110"/>
            </a:lvl6pPr>
            <a:lvl7pPr marL="8531901" indent="0">
              <a:buNone/>
              <a:defRPr sz="3110"/>
            </a:lvl7pPr>
            <a:lvl8pPr marL="9953884" indent="0">
              <a:buNone/>
              <a:defRPr sz="3110"/>
            </a:lvl8pPr>
            <a:lvl9pPr marL="11375868" indent="0">
              <a:buNone/>
              <a:defRPr sz="31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854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261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352421" y="2089157"/>
            <a:ext cx="6132389" cy="33253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5256" y="2089157"/>
            <a:ext cx="18041665" cy="33253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94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55255" y="2089166"/>
            <a:ext cx="24529554" cy="7584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5255" y="10445787"/>
            <a:ext cx="24529554" cy="24897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55254" y="36369513"/>
            <a:ext cx="6399014" cy="2089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77F3B-5770-4F47-B9CE-8267C8DFA99C}" type="datetimeFigureOut">
              <a:rPr kumimoji="1" lang="ko-KR" altLang="en-US" smtClean="0"/>
              <a:t>2025. 6. 30.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420771" y="36369513"/>
            <a:ext cx="9598521" cy="2089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085795" y="36369513"/>
            <a:ext cx="6399014" cy="2089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961EE-3350-E641-8071-CE55A4C62A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288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843967" rtl="0" eaLnBrk="1" latinLnBrk="0" hangingPunct="1">
        <a:lnSpc>
          <a:spcPct val="90000"/>
        </a:lnSpc>
        <a:spcBef>
          <a:spcPct val="0"/>
        </a:spcBef>
        <a:buNone/>
        <a:defRPr sz="136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0992" indent="-710992" algn="l" defTabSz="2843967" rtl="0" eaLnBrk="1" latinLnBrk="0" hangingPunct="1">
        <a:lnSpc>
          <a:spcPct val="90000"/>
        </a:lnSpc>
        <a:spcBef>
          <a:spcPts val="3110"/>
        </a:spcBef>
        <a:buFont typeface="Arial" panose="020B0604020202020204" pitchFamily="34" charset="0"/>
        <a:buChar char="•"/>
        <a:defRPr sz="8709" kern="1200">
          <a:solidFill>
            <a:schemeClr val="tx1"/>
          </a:solidFill>
          <a:latin typeface="+mn-lt"/>
          <a:ea typeface="+mn-ea"/>
          <a:cs typeface="+mn-cs"/>
        </a:defRPr>
      </a:lvl1pPr>
      <a:lvl2pPr marL="2132975" indent="-710992" algn="l" defTabSz="2843967" rtl="0" eaLnBrk="1" latinLnBrk="0" hangingPunct="1">
        <a:lnSpc>
          <a:spcPct val="90000"/>
        </a:lnSpc>
        <a:spcBef>
          <a:spcPts val="1555"/>
        </a:spcBef>
        <a:buFont typeface="Arial" panose="020B0604020202020204" pitchFamily="34" charset="0"/>
        <a:buChar char="•"/>
        <a:defRPr sz="7464" kern="1200">
          <a:solidFill>
            <a:schemeClr val="tx1"/>
          </a:solidFill>
          <a:latin typeface="+mn-lt"/>
          <a:ea typeface="+mn-ea"/>
          <a:cs typeface="+mn-cs"/>
        </a:defRPr>
      </a:lvl2pPr>
      <a:lvl3pPr marL="3554959" indent="-710992" algn="l" defTabSz="2843967" rtl="0" eaLnBrk="1" latinLnBrk="0" hangingPunct="1">
        <a:lnSpc>
          <a:spcPct val="90000"/>
        </a:lnSpc>
        <a:spcBef>
          <a:spcPts val="1555"/>
        </a:spcBef>
        <a:buFont typeface="Arial" panose="020B0604020202020204" pitchFamily="34" charset="0"/>
        <a:buChar char="•"/>
        <a:defRPr sz="6220" kern="1200">
          <a:solidFill>
            <a:schemeClr val="tx1"/>
          </a:solidFill>
          <a:latin typeface="+mn-lt"/>
          <a:ea typeface="+mn-ea"/>
          <a:cs typeface="+mn-cs"/>
        </a:defRPr>
      </a:lvl3pPr>
      <a:lvl4pPr marL="4976942" indent="-710992" algn="l" defTabSz="2843967" rtl="0" eaLnBrk="1" latinLnBrk="0" hangingPunct="1">
        <a:lnSpc>
          <a:spcPct val="90000"/>
        </a:lnSpc>
        <a:spcBef>
          <a:spcPts val="1555"/>
        </a:spcBef>
        <a:buFont typeface="Arial" panose="020B0604020202020204" pitchFamily="34" charset="0"/>
        <a:buChar char="•"/>
        <a:defRPr sz="5598" kern="1200">
          <a:solidFill>
            <a:schemeClr val="tx1"/>
          </a:solidFill>
          <a:latin typeface="+mn-lt"/>
          <a:ea typeface="+mn-ea"/>
          <a:cs typeface="+mn-cs"/>
        </a:defRPr>
      </a:lvl4pPr>
      <a:lvl5pPr marL="6398925" indent="-710992" algn="l" defTabSz="2843967" rtl="0" eaLnBrk="1" latinLnBrk="0" hangingPunct="1">
        <a:lnSpc>
          <a:spcPct val="90000"/>
        </a:lnSpc>
        <a:spcBef>
          <a:spcPts val="1555"/>
        </a:spcBef>
        <a:buFont typeface="Arial" panose="020B0604020202020204" pitchFamily="34" charset="0"/>
        <a:buChar char="•"/>
        <a:defRPr sz="5598" kern="1200">
          <a:solidFill>
            <a:schemeClr val="tx1"/>
          </a:solidFill>
          <a:latin typeface="+mn-lt"/>
          <a:ea typeface="+mn-ea"/>
          <a:cs typeface="+mn-cs"/>
        </a:defRPr>
      </a:lvl5pPr>
      <a:lvl6pPr marL="7820909" indent="-710992" algn="l" defTabSz="2843967" rtl="0" eaLnBrk="1" latinLnBrk="0" hangingPunct="1">
        <a:lnSpc>
          <a:spcPct val="90000"/>
        </a:lnSpc>
        <a:spcBef>
          <a:spcPts val="1555"/>
        </a:spcBef>
        <a:buFont typeface="Arial" panose="020B0604020202020204" pitchFamily="34" charset="0"/>
        <a:buChar char="•"/>
        <a:defRPr sz="5598" kern="1200">
          <a:solidFill>
            <a:schemeClr val="tx1"/>
          </a:solidFill>
          <a:latin typeface="+mn-lt"/>
          <a:ea typeface="+mn-ea"/>
          <a:cs typeface="+mn-cs"/>
        </a:defRPr>
      </a:lvl6pPr>
      <a:lvl7pPr marL="9242892" indent="-710992" algn="l" defTabSz="2843967" rtl="0" eaLnBrk="1" latinLnBrk="0" hangingPunct="1">
        <a:lnSpc>
          <a:spcPct val="90000"/>
        </a:lnSpc>
        <a:spcBef>
          <a:spcPts val="1555"/>
        </a:spcBef>
        <a:buFont typeface="Arial" panose="020B0604020202020204" pitchFamily="34" charset="0"/>
        <a:buChar char="•"/>
        <a:defRPr sz="5598" kern="1200">
          <a:solidFill>
            <a:schemeClr val="tx1"/>
          </a:solidFill>
          <a:latin typeface="+mn-lt"/>
          <a:ea typeface="+mn-ea"/>
          <a:cs typeface="+mn-cs"/>
        </a:defRPr>
      </a:lvl7pPr>
      <a:lvl8pPr marL="10664876" indent="-710992" algn="l" defTabSz="2843967" rtl="0" eaLnBrk="1" latinLnBrk="0" hangingPunct="1">
        <a:lnSpc>
          <a:spcPct val="90000"/>
        </a:lnSpc>
        <a:spcBef>
          <a:spcPts val="1555"/>
        </a:spcBef>
        <a:buFont typeface="Arial" panose="020B0604020202020204" pitchFamily="34" charset="0"/>
        <a:buChar char="•"/>
        <a:defRPr sz="5598" kern="1200">
          <a:solidFill>
            <a:schemeClr val="tx1"/>
          </a:solidFill>
          <a:latin typeface="+mn-lt"/>
          <a:ea typeface="+mn-ea"/>
          <a:cs typeface="+mn-cs"/>
        </a:defRPr>
      </a:lvl8pPr>
      <a:lvl9pPr marL="12086859" indent="-710992" algn="l" defTabSz="2843967" rtl="0" eaLnBrk="1" latinLnBrk="0" hangingPunct="1">
        <a:lnSpc>
          <a:spcPct val="90000"/>
        </a:lnSpc>
        <a:spcBef>
          <a:spcPts val="1555"/>
        </a:spcBef>
        <a:buFont typeface="Arial" panose="020B0604020202020204" pitchFamily="34" charset="0"/>
        <a:buChar char="•"/>
        <a:defRPr sz="55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1pPr>
      <a:lvl2pPr marL="1421983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2pPr>
      <a:lvl3pPr marL="2843967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3pPr>
      <a:lvl4pPr marL="4265950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4pPr>
      <a:lvl5pPr marL="5687934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5pPr>
      <a:lvl6pPr marL="7109917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6pPr>
      <a:lvl7pPr marL="8531901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7pPr>
      <a:lvl8pPr marL="9953884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8pPr>
      <a:lvl9pPr marL="11375868" algn="l" defTabSz="2843967" rtl="0" eaLnBrk="1" latinLnBrk="0" hangingPunct="1">
        <a:defRPr sz="55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A1BD7-91DD-D34C-A5B4-684FD65C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3E803E-051A-01F4-39BC-C41CB42A1410}"/>
              </a:ext>
            </a:extLst>
          </p:cNvPr>
          <p:cNvSpPr/>
          <p:nvPr/>
        </p:nvSpPr>
        <p:spPr>
          <a:xfrm>
            <a:off x="352449" y="755934"/>
            <a:ext cx="27735166" cy="4656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429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7B1DB88-8940-4480-0C74-63E23030E8FA}"/>
              </a:ext>
            </a:extLst>
          </p:cNvPr>
          <p:cNvGrpSpPr/>
          <p:nvPr/>
        </p:nvGrpSpPr>
        <p:grpSpPr>
          <a:xfrm>
            <a:off x="352449" y="680675"/>
            <a:ext cx="28634906" cy="3647291"/>
            <a:chOff x="325414" y="686443"/>
            <a:chExt cx="31257353" cy="3981318"/>
          </a:xfrm>
        </p:grpSpPr>
        <p:pic>
          <p:nvPicPr>
            <p:cNvPr id="3" name="그림 2" descr="그래픽, 폰트, 그래픽 디자인, 로고이(가) 표시된 사진&#10;&#10;자동 생성된 설명">
              <a:extLst>
                <a:ext uri="{FF2B5EF4-FFF2-40B4-BE49-F238E27FC236}">
                  <a16:creationId xmlns:a16="http://schemas.microsoft.com/office/drawing/2014/main" id="{C517A50F-98F8-C5F2-DBD4-689E02B82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3621" y="1615235"/>
              <a:ext cx="4452939" cy="2076271"/>
            </a:xfrm>
            <a:prstGeom prst="rect">
              <a:avLst/>
            </a:prstGeom>
            <a:noFill/>
          </p:spPr>
        </p:pic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6B3C6CDE-00EC-EA03-9B43-C685C3E79E71}"/>
                </a:ext>
              </a:extLst>
            </p:cNvPr>
            <p:cNvGrpSpPr/>
            <p:nvPr/>
          </p:nvGrpSpPr>
          <p:grpSpPr>
            <a:xfrm>
              <a:off x="325414" y="686443"/>
              <a:ext cx="31257353" cy="3981318"/>
              <a:chOff x="325414" y="686443"/>
              <a:chExt cx="31257353" cy="3981318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DBD58C32-ACCD-FD31-7361-BE4DC9E43153}"/>
                  </a:ext>
                </a:extLst>
              </p:cNvPr>
              <p:cNvSpPr/>
              <p:nvPr/>
            </p:nvSpPr>
            <p:spPr>
              <a:xfrm>
                <a:off x="325414" y="791381"/>
                <a:ext cx="5349355" cy="387638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429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4B433F-70C9-B56D-7D4B-8273987D7511}"/>
                  </a:ext>
                </a:extLst>
              </p:cNvPr>
              <p:cNvSpPr txBox="1"/>
              <p:nvPr/>
            </p:nvSpPr>
            <p:spPr>
              <a:xfrm>
                <a:off x="5522367" y="686443"/>
                <a:ext cx="26060400" cy="3856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6413" b="1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OCR </a:t>
                </a:r>
                <a:r>
                  <a:rPr lang="ko-KR" altLang="en-US" sz="6413" b="1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성능 향상을 위한 이미지 </a:t>
                </a:r>
                <a:r>
                  <a:rPr lang="ko-KR" altLang="en-US" sz="6413" b="1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전처리</a:t>
                </a:r>
                <a:r>
                  <a:rPr lang="ko-KR" altLang="en-US" sz="6413" b="1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기법 연구</a:t>
                </a:r>
                <a:endParaRPr lang="en-US" altLang="ko-KR" sz="6413" b="1" dirty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>
                  <a:spcAft>
                    <a:spcPts val="46"/>
                  </a:spcAft>
                </a:pPr>
                <a:r>
                  <a:rPr lang="en-US" altLang="ko-KR" sz="4397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 Study on Image Preprocessing Techniques for Enhancing OCR Performance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931" dirty="0"/>
                  <a:t>정다훈</a:t>
                </a:r>
                <a:r>
                  <a:rPr lang="en" altLang="ko-KR" sz="2931" baseline="30000" dirty="0"/>
                  <a:t>1</a:t>
                </a:r>
                <a:r>
                  <a:rPr lang="en" altLang="ko-KR" sz="2931" dirty="0"/>
                  <a:t>,</a:t>
                </a:r>
                <a:r>
                  <a:rPr lang="ko-KR" altLang="en-US" sz="2931" dirty="0"/>
                  <a:t>최상일</a:t>
                </a:r>
                <a:r>
                  <a:rPr lang="en-US" altLang="ko-KR" sz="2931" baseline="30000" dirty="0"/>
                  <a:t>2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931" baseline="30000" dirty="0"/>
                  <a:t>1</a:t>
                </a:r>
                <a:r>
                  <a:rPr lang="ko-KR" altLang="en-US" sz="2931" dirty="0" err="1"/>
                  <a:t>단국대학교소프트웨어학과</a:t>
                </a:r>
                <a:r>
                  <a:rPr lang="en-US" altLang="ko-KR" sz="2931" dirty="0"/>
                  <a:t>,</a:t>
                </a:r>
                <a:r>
                  <a:rPr lang="ko-KR" altLang="en-US" sz="2931" dirty="0"/>
                  <a:t> </a:t>
                </a:r>
                <a:r>
                  <a:rPr lang="en-US" altLang="ko-KR" sz="2931" baseline="30000" dirty="0"/>
                  <a:t>2</a:t>
                </a:r>
                <a:r>
                  <a:rPr lang="ko-KR" altLang="en-US" sz="2931" dirty="0"/>
                  <a:t>단국대학교컴퓨터공학과</a:t>
                </a:r>
                <a:endParaRPr kumimoji="1" lang="ko-KR" altLang="en-US" sz="2931" dirty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E5ABCC11-3DCC-5DA3-2924-AF8046BEA29A}"/>
              </a:ext>
            </a:extLst>
          </p:cNvPr>
          <p:cNvSpPr/>
          <p:nvPr/>
        </p:nvSpPr>
        <p:spPr>
          <a:xfrm>
            <a:off x="634859" y="5264024"/>
            <a:ext cx="27189547" cy="3200533"/>
          </a:xfrm>
          <a:prstGeom prst="roundRect">
            <a:avLst/>
          </a:prstGeom>
          <a:noFill/>
          <a:ln cap="flat">
            <a:solidFill>
              <a:srgbClr val="004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29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59DEE94-F6FB-9680-3F06-5EB2F0C74BD9}"/>
              </a:ext>
            </a:extLst>
          </p:cNvPr>
          <p:cNvGrpSpPr/>
          <p:nvPr/>
        </p:nvGrpSpPr>
        <p:grpSpPr>
          <a:xfrm>
            <a:off x="841758" y="4460476"/>
            <a:ext cx="4645319" cy="801213"/>
            <a:chOff x="635813" y="5147687"/>
            <a:chExt cx="5070748" cy="874591"/>
          </a:xfrm>
        </p:grpSpPr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17E730B3-AA49-E1C6-74E3-EE3F43B91329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3" y="6022278"/>
              <a:ext cx="50707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26CBB4-181E-F900-225D-32ADBB018494}"/>
                </a:ext>
              </a:extLst>
            </p:cNvPr>
            <p:cNvSpPr txBox="1"/>
            <p:nvPr/>
          </p:nvSpPr>
          <p:spPr>
            <a:xfrm>
              <a:off x="635813" y="5147687"/>
              <a:ext cx="5070748" cy="839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6997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4397" b="1" spc="-58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+mj-ea"/>
                  <a:ea typeface="+mj-ea"/>
                  <a:cs typeface="함초롬돋움" panose="020B0604000101010101" pitchFamily="50" charset="-127"/>
                </a:rPr>
                <a:t>INTRODUCTION</a:t>
              </a:r>
            </a:p>
          </p:txBody>
        </p:sp>
      </p:grp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446A85A8-D4F3-3347-B20A-5FEE55CF338F}"/>
              </a:ext>
            </a:extLst>
          </p:cNvPr>
          <p:cNvSpPr/>
          <p:nvPr/>
        </p:nvSpPr>
        <p:spPr>
          <a:xfrm>
            <a:off x="615657" y="9226192"/>
            <a:ext cx="13336971" cy="17377084"/>
          </a:xfrm>
          <a:prstGeom prst="roundRect">
            <a:avLst/>
          </a:prstGeom>
          <a:noFill/>
          <a:ln>
            <a:solidFill>
              <a:srgbClr val="004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29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4B7EE12-4863-AA80-174E-CF9A820C3039}"/>
              </a:ext>
            </a:extLst>
          </p:cNvPr>
          <p:cNvGrpSpPr/>
          <p:nvPr/>
        </p:nvGrpSpPr>
        <p:grpSpPr>
          <a:xfrm>
            <a:off x="862779" y="8422646"/>
            <a:ext cx="4645319" cy="801214"/>
            <a:chOff x="635813" y="5147687"/>
            <a:chExt cx="5070748" cy="874591"/>
          </a:xfrm>
        </p:grpSpPr>
        <p:cxnSp>
          <p:nvCxnSpPr>
            <p:cNvPr id="63" name="직선 연결선[R] 62">
              <a:extLst>
                <a:ext uri="{FF2B5EF4-FFF2-40B4-BE49-F238E27FC236}">
                  <a16:creationId xmlns:a16="http://schemas.microsoft.com/office/drawing/2014/main" id="{AA748CD6-E896-5666-F7C1-521F5CFFDAC1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3" y="6022278"/>
              <a:ext cx="50707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CCAE603-F5F3-308B-09BA-5F65D7E69462}"/>
                </a:ext>
              </a:extLst>
            </p:cNvPr>
            <p:cNvSpPr txBox="1"/>
            <p:nvPr/>
          </p:nvSpPr>
          <p:spPr>
            <a:xfrm>
              <a:off x="635813" y="5147687"/>
              <a:ext cx="5070748" cy="8394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6997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4397" b="1" spc="-58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+mj-ea"/>
                  <a:ea typeface="+mj-ea"/>
                  <a:cs typeface="함초롬돋움" panose="020B0604000101010101" pitchFamily="50" charset="-127"/>
                </a:rPr>
                <a:t>METHOD</a:t>
              </a:r>
            </a:p>
          </p:txBody>
        </p:sp>
      </p:grp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1CF1AB62-7C6E-3AB7-58A1-6D858FB86961}"/>
              </a:ext>
            </a:extLst>
          </p:cNvPr>
          <p:cNvSpPr/>
          <p:nvPr/>
        </p:nvSpPr>
        <p:spPr>
          <a:xfrm>
            <a:off x="14474542" y="9280806"/>
            <a:ext cx="13336971" cy="10533012"/>
          </a:xfrm>
          <a:prstGeom prst="roundRect">
            <a:avLst/>
          </a:prstGeom>
          <a:noFill/>
          <a:ln>
            <a:solidFill>
              <a:srgbClr val="004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29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51BEE5DA-9935-CCED-8621-095387959D65}"/>
              </a:ext>
            </a:extLst>
          </p:cNvPr>
          <p:cNvGrpSpPr/>
          <p:nvPr/>
        </p:nvGrpSpPr>
        <p:grpSpPr>
          <a:xfrm>
            <a:off x="14474543" y="8479593"/>
            <a:ext cx="7260456" cy="801214"/>
            <a:chOff x="635813" y="5147687"/>
            <a:chExt cx="7925384" cy="874591"/>
          </a:xfrm>
        </p:grpSpPr>
        <p:cxnSp>
          <p:nvCxnSpPr>
            <p:cNvPr id="66" name="직선 연결선[R] 65">
              <a:extLst>
                <a:ext uri="{FF2B5EF4-FFF2-40B4-BE49-F238E27FC236}">
                  <a16:creationId xmlns:a16="http://schemas.microsoft.com/office/drawing/2014/main" id="{1B36F6D8-90CE-D734-F848-04EB31577B3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3" y="6022278"/>
              <a:ext cx="50707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A2DBF0B-C027-011C-A824-22A124028629}"/>
                </a:ext>
              </a:extLst>
            </p:cNvPr>
            <p:cNvSpPr txBox="1"/>
            <p:nvPr/>
          </p:nvSpPr>
          <p:spPr>
            <a:xfrm>
              <a:off x="635813" y="5147687"/>
              <a:ext cx="7925384" cy="8394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6997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4397" b="1" spc="-58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+mj-ea"/>
                  <a:ea typeface="+mj-ea"/>
                  <a:cs typeface="함초롬돋움" panose="020B0604000101010101" pitchFamily="50" charset="-127"/>
                </a:rPr>
                <a:t>EXPERIMENT &amp; RESULT</a:t>
              </a:r>
            </a:p>
          </p:txBody>
        </p:sp>
      </p:grp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6B283D74-E2CA-D30B-B8DF-385FA006B04D}"/>
              </a:ext>
            </a:extLst>
          </p:cNvPr>
          <p:cNvSpPr/>
          <p:nvPr/>
        </p:nvSpPr>
        <p:spPr>
          <a:xfrm>
            <a:off x="14577060" y="21227472"/>
            <a:ext cx="13234261" cy="10988045"/>
          </a:xfrm>
          <a:prstGeom prst="roundRect">
            <a:avLst/>
          </a:prstGeom>
          <a:noFill/>
          <a:ln>
            <a:solidFill>
              <a:srgbClr val="004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29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ADC8309-23BA-A23E-DAE9-46ADADA17D01}"/>
              </a:ext>
            </a:extLst>
          </p:cNvPr>
          <p:cNvGrpSpPr/>
          <p:nvPr/>
        </p:nvGrpSpPr>
        <p:grpSpPr>
          <a:xfrm>
            <a:off x="14474542" y="20437924"/>
            <a:ext cx="8436909" cy="801213"/>
            <a:chOff x="635813" y="5147687"/>
            <a:chExt cx="9209580" cy="874591"/>
          </a:xfrm>
        </p:grpSpPr>
        <p:cxnSp>
          <p:nvCxnSpPr>
            <p:cNvPr id="69" name="직선 연결선[R] 68">
              <a:extLst>
                <a:ext uri="{FF2B5EF4-FFF2-40B4-BE49-F238E27FC236}">
                  <a16:creationId xmlns:a16="http://schemas.microsoft.com/office/drawing/2014/main" id="{DFB08C39-D330-1931-FB92-227C20F98C22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3" y="6022278"/>
              <a:ext cx="50707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1DDC6E5-FA6C-6E7E-8877-5CC043A70949}"/>
                </a:ext>
              </a:extLst>
            </p:cNvPr>
            <p:cNvSpPr txBox="1"/>
            <p:nvPr/>
          </p:nvSpPr>
          <p:spPr>
            <a:xfrm>
              <a:off x="635813" y="5147687"/>
              <a:ext cx="9209580" cy="839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6997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4397" b="1" spc="-58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+mj-ea"/>
                  <a:ea typeface="+mj-ea"/>
                  <a:cs typeface="함초롬돋움" panose="020B0604000101010101" pitchFamily="50" charset="-127"/>
                </a:rPr>
                <a:t>CONCLUSION &amp; FUTURE PLAN</a:t>
              </a:r>
            </a:p>
          </p:txBody>
        </p:sp>
      </p:grp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873A7677-687D-B834-E9F4-C349B92FE79C}"/>
              </a:ext>
            </a:extLst>
          </p:cNvPr>
          <p:cNvSpPr/>
          <p:nvPr/>
        </p:nvSpPr>
        <p:spPr>
          <a:xfrm>
            <a:off x="14474542" y="33277570"/>
            <a:ext cx="13336780" cy="2717449"/>
          </a:xfrm>
          <a:prstGeom prst="roundRect">
            <a:avLst/>
          </a:prstGeom>
          <a:noFill/>
          <a:ln>
            <a:solidFill>
              <a:srgbClr val="004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29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213FAA9C-DBAD-6B89-22D8-DEE39E17BBD8}"/>
              </a:ext>
            </a:extLst>
          </p:cNvPr>
          <p:cNvGrpSpPr/>
          <p:nvPr/>
        </p:nvGrpSpPr>
        <p:grpSpPr>
          <a:xfrm>
            <a:off x="14474542" y="32476358"/>
            <a:ext cx="7260456" cy="801214"/>
            <a:chOff x="635813" y="5147687"/>
            <a:chExt cx="7925384" cy="874591"/>
          </a:xfrm>
        </p:grpSpPr>
        <p:cxnSp>
          <p:nvCxnSpPr>
            <p:cNvPr id="73" name="직선 연결선[R] 72">
              <a:extLst>
                <a:ext uri="{FF2B5EF4-FFF2-40B4-BE49-F238E27FC236}">
                  <a16:creationId xmlns:a16="http://schemas.microsoft.com/office/drawing/2014/main" id="{0D64A83C-A7AC-C1BF-E1E1-5A20CA5117B9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3" y="6022278"/>
              <a:ext cx="50707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C22C302-84AE-C5B3-19E0-881957BB2F93}"/>
                </a:ext>
              </a:extLst>
            </p:cNvPr>
            <p:cNvSpPr txBox="1"/>
            <p:nvPr/>
          </p:nvSpPr>
          <p:spPr>
            <a:xfrm>
              <a:off x="635813" y="5147687"/>
              <a:ext cx="7925384" cy="8394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6997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4397" b="1" spc="-58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+mj-ea"/>
                  <a:ea typeface="+mj-ea"/>
                  <a:cs typeface="함초롬돋움" panose="020B0604000101010101" pitchFamily="50" charset="-127"/>
                </a:rPr>
                <a:t>ACKNOWLEDGEMENT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D4B6ED4-85E5-6215-5A09-1A830CF3239D}"/>
              </a:ext>
            </a:extLst>
          </p:cNvPr>
          <p:cNvSpPr txBox="1"/>
          <p:nvPr/>
        </p:nvSpPr>
        <p:spPr>
          <a:xfrm>
            <a:off x="1191529" y="5537802"/>
            <a:ext cx="26076204" cy="2578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99" dirty="0"/>
              <a:t>OCR(Optical Character Recognition) </a:t>
            </a:r>
            <a:r>
              <a:rPr lang="ko-KR" altLang="en-US" sz="2199" dirty="0"/>
              <a:t>기술은 문서 디지털화</a:t>
            </a:r>
            <a:r>
              <a:rPr lang="en-US" altLang="ko-KR" sz="2199" dirty="0"/>
              <a:t>, </a:t>
            </a:r>
            <a:r>
              <a:rPr lang="ko-KR" altLang="en-US" sz="2199" dirty="0"/>
              <a:t>자동 채점 시스템</a:t>
            </a:r>
            <a:r>
              <a:rPr lang="en-US" altLang="ko-KR" sz="2199" dirty="0"/>
              <a:t>, </a:t>
            </a:r>
            <a:r>
              <a:rPr lang="ko-KR" altLang="en-US" sz="2199" dirty="0"/>
              <a:t>설문지 처리 등 다양한 응용 분야에서 널리 활용되지만</a:t>
            </a:r>
            <a:r>
              <a:rPr lang="en-US" altLang="ko-KR" sz="2199" dirty="0"/>
              <a:t>, </a:t>
            </a:r>
            <a:r>
              <a:rPr lang="ko-KR" altLang="en-US" sz="2199" dirty="0" err="1"/>
              <a:t>손글씨가</a:t>
            </a:r>
            <a:r>
              <a:rPr lang="ko-KR" altLang="en-US" sz="2199" dirty="0"/>
              <a:t> 포함된 문서에서는 인식 정확도가 현저히 낮아지는 문제가 존재한다</a:t>
            </a:r>
            <a:r>
              <a:rPr lang="en-US" altLang="ko-KR" sz="2199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199" dirty="0"/>
              <a:t>낮은 정확도의 원인은 손글씨의 불규칙성</a:t>
            </a:r>
            <a:r>
              <a:rPr lang="en-US" altLang="ko-KR" sz="2199" dirty="0"/>
              <a:t>, </a:t>
            </a:r>
            <a:r>
              <a:rPr lang="ko-KR" altLang="en-US" sz="2199" dirty="0"/>
              <a:t>시험지의 복잡한 레이아웃</a:t>
            </a:r>
            <a:r>
              <a:rPr lang="en-US" altLang="ko-KR" sz="2199" dirty="0"/>
              <a:t>, </a:t>
            </a:r>
            <a:r>
              <a:rPr lang="ko-KR" altLang="en-US" sz="2199" dirty="0"/>
              <a:t>그리고 배경 노이즈 등 다양한 요인에서 기인한다</a:t>
            </a:r>
            <a:r>
              <a:rPr lang="en-US" altLang="ko-KR" sz="2199" dirty="0"/>
              <a:t>. </a:t>
            </a:r>
            <a:r>
              <a:rPr lang="ko-KR" altLang="en-US" sz="2199" dirty="0"/>
              <a:t>본 연구는 이러한 문제를 해결하기 위해 </a:t>
            </a:r>
            <a:r>
              <a:rPr lang="en-US" sz="2199" dirty="0"/>
              <a:t>YOLOv10 </a:t>
            </a:r>
            <a:r>
              <a:rPr lang="ko-KR" altLang="en-US" sz="2199" dirty="0"/>
              <a:t>객체 탐지 모델과 </a:t>
            </a:r>
            <a:r>
              <a:rPr lang="en-US" sz="2199" dirty="0"/>
              <a:t>OpenCV </a:t>
            </a:r>
            <a:r>
              <a:rPr lang="ko-KR" altLang="en-US" sz="2199" dirty="0"/>
              <a:t>기반 이미지 처리 기법을 결합한 </a:t>
            </a:r>
            <a:r>
              <a:rPr lang="ko-KR" altLang="en-US" sz="2199" dirty="0" err="1"/>
              <a:t>전처리</a:t>
            </a:r>
            <a:r>
              <a:rPr lang="ko-KR" altLang="en-US" sz="2199" dirty="0"/>
              <a:t> 파이프라인을 제안한다</a:t>
            </a:r>
            <a:r>
              <a:rPr lang="en-US" altLang="ko-KR" sz="2199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199" dirty="0"/>
              <a:t>제안된 파이프라인은 원본 이미지에 대해 절반 </a:t>
            </a:r>
            <a:r>
              <a:rPr lang="ko-KR" altLang="en-US" sz="2199" dirty="0" err="1"/>
              <a:t>크롭</a:t>
            </a:r>
            <a:r>
              <a:rPr lang="en-US" altLang="ko-KR" sz="2199" dirty="0"/>
              <a:t>(</a:t>
            </a:r>
            <a:r>
              <a:rPr lang="en-US" sz="2199" dirty="0"/>
              <a:t>Half Cropped), </a:t>
            </a:r>
            <a:r>
              <a:rPr lang="ko-KR" altLang="en-US" sz="2199" dirty="0"/>
              <a:t>수평 </a:t>
            </a:r>
            <a:r>
              <a:rPr lang="ko-KR" altLang="en-US" sz="2199" dirty="0" err="1"/>
              <a:t>크롭</a:t>
            </a:r>
            <a:r>
              <a:rPr lang="en-US" altLang="ko-KR" sz="2199" dirty="0"/>
              <a:t>(</a:t>
            </a:r>
            <a:r>
              <a:rPr lang="en-US" sz="2199" dirty="0"/>
              <a:t>Horizontally Cropped), </a:t>
            </a:r>
            <a:r>
              <a:rPr lang="ko-KR" altLang="en-US" sz="2199" dirty="0"/>
              <a:t>텍스트 </a:t>
            </a:r>
            <a:r>
              <a:rPr lang="ko-KR" altLang="en-US" sz="2199" dirty="0" err="1"/>
              <a:t>크롭</a:t>
            </a:r>
            <a:r>
              <a:rPr lang="en-US" altLang="ko-KR" sz="2199" dirty="0"/>
              <a:t>(</a:t>
            </a:r>
            <a:r>
              <a:rPr lang="en-US" sz="2199" dirty="0"/>
              <a:t>Text Cropped)</a:t>
            </a:r>
            <a:r>
              <a:rPr lang="ko-KR" altLang="en-US" sz="2199" dirty="0"/>
              <a:t>의 세 단계를 순차적으로 적용하여 텍스트 영역을 정밀하게 분리하고</a:t>
            </a:r>
            <a:r>
              <a:rPr lang="en-US" altLang="ko-KR" sz="2199" dirty="0"/>
              <a:t>, </a:t>
            </a:r>
            <a:r>
              <a:rPr lang="ko-KR" altLang="en-US" sz="2199" dirty="0"/>
              <a:t>이후 </a:t>
            </a:r>
            <a:r>
              <a:rPr lang="en-US" sz="2199" dirty="0"/>
              <a:t>MNIST </a:t>
            </a:r>
            <a:r>
              <a:rPr lang="ko-KR" altLang="en-US" sz="2199" dirty="0"/>
              <a:t>데이터셋으로 학습된 단일 숫자 분류 모델을 통해 개별 숫자를 인식한다</a:t>
            </a:r>
            <a:r>
              <a:rPr lang="en-US" altLang="ko-KR" sz="2199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CE4F9-B505-FC13-7D69-7ADB06D2848B}"/>
              </a:ext>
            </a:extLst>
          </p:cNvPr>
          <p:cNvSpPr txBox="1"/>
          <p:nvPr/>
        </p:nvSpPr>
        <p:spPr>
          <a:xfrm>
            <a:off x="1196345" y="10113830"/>
            <a:ext cx="8024697" cy="13290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199" b="1" dirty="0" err="1"/>
              <a:t>전처리</a:t>
            </a:r>
            <a:r>
              <a:rPr lang="ko-KR" altLang="en-US" sz="2199" b="1" dirty="0"/>
              <a:t> 파이프라인 구성</a:t>
            </a:r>
            <a:endParaRPr lang="en-US" altLang="ko-KR" sz="2199" b="1" dirty="0"/>
          </a:p>
          <a:p>
            <a:endParaRPr lang="en-US" sz="2199" b="1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r>
              <a:rPr lang="en-US" sz="2199" dirty="0"/>
              <a:t>Half Cropped: YOLOv10</a:t>
            </a:r>
            <a:r>
              <a:rPr lang="ko-KR" altLang="en-US" sz="2199" dirty="0"/>
              <a:t>을 통해 시험지의 상단</a:t>
            </a:r>
            <a:r>
              <a:rPr lang="en-US" altLang="ko-KR" sz="2199" dirty="0"/>
              <a:t>/</a:t>
            </a:r>
            <a:r>
              <a:rPr lang="ko-KR" altLang="en-US" sz="2199" dirty="0"/>
              <a:t>하단 제거</a:t>
            </a: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lvl="1"/>
            <a:endParaRPr lang="en-US" altLang="ko-KR" sz="2199" dirty="0"/>
          </a:p>
          <a:p>
            <a:pPr lvl="1"/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ko-KR" altLang="en-US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r>
              <a:rPr lang="en-US" sz="2199" dirty="0"/>
              <a:t>Horizontally Cropped: </a:t>
            </a:r>
            <a:r>
              <a:rPr lang="ko-KR" altLang="en-US" sz="2199" dirty="0"/>
              <a:t>각 행 단위로 분리</a:t>
            </a:r>
          </a:p>
          <a:p>
            <a:pPr marL="733028" lvl="1" indent="-314155">
              <a:buFont typeface="Arial" panose="020B0604020202020204" pitchFamily="34" charset="0"/>
              <a:buChar char="•"/>
            </a:pPr>
            <a:r>
              <a:rPr lang="en-US" sz="2199" dirty="0"/>
              <a:t>Text Cropped: Suzuki–Abe </a:t>
            </a:r>
            <a:r>
              <a:rPr lang="ko-KR" altLang="en-US" sz="2199" dirty="0"/>
              <a:t>알고리즘을 통한 개별 숫자 추출</a:t>
            </a: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pPr marL="733028" lvl="1" indent="-314155">
              <a:buFont typeface="Arial" panose="020B0604020202020204" pitchFamily="34" charset="0"/>
              <a:buChar char="•"/>
            </a:pPr>
            <a:endParaRPr lang="en-US" altLang="ko-KR" sz="2199" dirty="0"/>
          </a:p>
          <a:p>
            <a:r>
              <a:rPr lang="ko-KR" altLang="en-US" sz="2199" b="1" dirty="0"/>
              <a:t>최종적으로 </a:t>
            </a:r>
            <a:r>
              <a:rPr lang="en-US" altLang="ko-KR" sz="2199" b="1" dirty="0"/>
              <a:t>MNIST</a:t>
            </a:r>
            <a:r>
              <a:rPr lang="ko-KR" altLang="en-US" sz="2199" b="1" dirty="0"/>
              <a:t> 기반 분류 모델로 단일 숫자 인식</a:t>
            </a:r>
            <a:endParaRPr lang="en-US" altLang="ko-KR" sz="2199" b="1" dirty="0"/>
          </a:p>
          <a:p>
            <a:endParaRPr lang="en-US" altLang="ko-KR" sz="2199" b="1" dirty="0"/>
          </a:p>
          <a:p>
            <a:r>
              <a:rPr lang="en-US" altLang="ko-KR" sz="2199" b="1" dirty="0"/>
              <a:t>	</a:t>
            </a:r>
          </a:p>
          <a:p>
            <a:endParaRPr lang="en-US" altLang="ko-KR" sz="2199" b="1" dirty="0"/>
          </a:p>
          <a:p>
            <a:endParaRPr lang="en-US" altLang="ko-KR" sz="2199" b="1" dirty="0"/>
          </a:p>
          <a:p>
            <a:endParaRPr lang="en-US" altLang="ko-KR" sz="2199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6A77D0-2A3B-5413-CDBD-3BE361E8B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105" y="11266494"/>
            <a:ext cx="8302961" cy="435454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6D42EC9-958E-AB0F-3072-B519E7EF649B}"/>
              </a:ext>
            </a:extLst>
          </p:cNvPr>
          <p:cNvGrpSpPr/>
          <p:nvPr/>
        </p:nvGrpSpPr>
        <p:grpSpPr>
          <a:xfrm>
            <a:off x="1191530" y="16599454"/>
            <a:ext cx="10945090" cy="4275909"/>
            <a:chOff x="1388113" y="22570092"/>
            <a:chExt cx="11947465" cy="466750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5586EB7-47D1-D1B0-6C78-17CB4FE86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8113" y="22570093"/>
              <a:ext cx="8587875" cy="466750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7BF33BC-5FAC-826E-9B9C-BCAC2DC00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0659"/>
            <a:stretch>
              <a:fillRect/>
            </a:stretch>
          </p:blipFill>
          <p:spPr>
            <a:xfrm>
              <a:off x="10277856" y="22570092"/>
              <a:ext cx="3057722" cy="4667505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FAE0AEA-27C9-C1FA-658D-317C2024A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231" y="22056104"/>
            <a:ext cx="11540001" cy="3336109"/>
          </a:xfrm>
          <a:prstGeom prst="rect">
            <a:avLst/>
          </a:prstGeom>
        </p:spPr>
      </p:pic>
      <p:grpSp>
        <p:nvGrpSpPr>
          <p:cNvPr id="22" name="그룹 137">
            <a:extLst>
              <a:ext uri="{FF2B5EF4-FFF2-40B4-BE49-F238E27FC236}">
                <a16:creationId xmlns:a16="http://schemas.microsoft.com/office/drawing/2014/main" id="{BBA45A46-613C-0DF4-89D8-9CDF4AACD46E}"/>
              </a:ext>
            </a:extLst>
          </p:cNvPr>
          <p:cNvGrpSpPr/>
          <p:nvPr/>
        </p:nvGrpSpPr>
        <p:grpSpPr>
          <a:xfrm>
            <a:off x="626881" y="26601263"/>
            <a:ext cx="13294895" cy="5614255"/>
            <a:chOff x="332221" y="33997435"/>
            <a:chExt cx="14512471" cy="8453494"/>
          </a:xfrm>
        </p:grpSpPr>
        <p:sp>
          <p:nvSpPr>
            <p:cNvPr id="23" name="모서리가 둥근 직사각형 14">
              <a:extLst>
                <a:ext uri="{FF2B5EF4-FFF2-40B4-BE49-F238E27FC236}">
                  <a16:creationId xmlns:a16="http://schemas.microsoft.com/office/drawing/2014/main" id="{42AC9937-26C4-9E69-F635-B812CBE7339F}"/>
                </a:ext>
              </a:extLst>
            </p:cNvPr>
            <p:cNvSpPr/>
            <p:nvPr/>
          </p:nvSpPr>
          <p:spPr>
            <a:xfrm>
              <a:off x="398409" y="35250346"/>
              <a:ext cx="14446283" cy="7200583"/>
            </a:xfrm>
            <a:prstGeom prst="roundRect">
              <a:avLst/>
            </a:prstGeom>
            <a:noFill/>
            <a:ln>
              <a:solidFill>
                <a:srgbClr val="0049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29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4" name="그룹 15">
              <a:extLst>
                <a:ext uri="{FF2B5EF4-FFF2-40B4-BE49-F238E27FC236}">
                  <a16:creationId xmlns:a16="http://schemas.microsoft.com/office/drawing/2014/main" id="{374F188B-2FDE-B93F-D02C-5807113AD050}"/>
                </a:ext>
              </a:extLst>
            </p:cNvPr>
            <p:cNvGrpSpPr/>
            <p:nvPr/>
          </p:nvGrpSpPr>
          <p:grpSpPr>
            <a:xfrm>
              <a:off x="332221" y="33997435"/>
              <a:ext cx="7925384" cy="1245757"/>
              <a:chOff x="635813" y="4776521"/>
              <a:chExt cx="7925384" cy="1245757"/>
            </a:xfrm>
          </p:grpSpPr>
          <p:cxnSp>
            <p:nvCxnSpPr>
              <p:cNvPr id="32" name="직선 연결선[R] 18">
                <a:extLst>
                  <a:ext uri="{FF2B5EF4-FFF2-40B4-BE49-F238E27FC236}">
                    <a16:creationId xmlns:a16="http://schemas.microsoft.com/office/drawing/2014/main" id="{67D130D3-FD3D-CC57-3F43-B1648C094F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5813" y="6022278"/>
                <a:ext cx="507074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E14E99D-2490-3C6D-B1CF-2151E7DD92B6}"/>
                  </a:ext>
                </a:extLst>
              </p:cNvPr>
              <p:cNvSpPr txBox="1"/>
              <p:nvPr/>
            </p:nvSpPr>
            <p:spPr>
              <a:xfrm>
                <a:off x="635813" y="4776521"/>
                <a:ext cx="7925384" cy="115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069974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4397" b="1" spc="-58" dirty="0">
                    <a:ln>
                      <a:solidFill>
                        <a:schemeClr val="bg1">
                          <a:lumMod val="50000"/>
                          <a:alpha val="0"/>
                        </a:scheme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  <a:cs typeface="함초롬돋움" panose="020B0604000101010101" pitchFamily="50" charset="-127"/>
                  </a:rPr>
                  <a:t>Dataset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744E3F-256D-3B64-E913-35AE05A79AA4}"/>
                </a:ext>
              </a:extLst>
            </p:cNvPr>
            <p:cNvSpPr txBox="1"/>
            <p:nvPr/>
          </p:nvSpPr>
          <p:spPr>
            <a:xfrm>
              <a:off x="1595428" y="36544947"/>
              <a:ext cx="11812986" cy="4646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14155" indent="-31415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199" dirty="0"/>
                <a:t>실험 데이터</a:t>
              </a:r>
              <a:r>
                <a:rPr lang="en-US" altLang="ko-KR" sz="2199" dirty="0"/>
                <a:t>: </a:t>
              </a:r>
              <a:r>
                <a:rPr lang="ko-KR" altLang="en-US" sz="2199" dirty="0"/>
                <a:t>실제 대학 시험지 </a:t>
              </a:r>
              <a:r>
                <a:rPr lang="en-US" altLang="ko-KR" sz="2199" dirty="0"/>
                <a:t>10</a:t>
              </a:r>
              <a:r>
                <a:rPr lang="ko-KR" altLang="en-US" sz="2199" dirty="0"/>
                <a:t>장</a:t>
              </a:r>
              <a:endParaRPr lang="en-US" altLang="ko-KR" sz="2199" dirty="0"/>
            </a:p>
            <a:p>
              <a:pPr marL="733028" lvl="1" indent="-31415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199" dirty="0"/>
                <a:t>본 논문은 </a:t>
              </a:r>
              <a:r>
                <a:rPr lang="en-US" altLang="ko-KR" sz="2199" dirty="0"/>
                <a:t>AI</a:t>
              </a:r>
              <a:r>
                <a:rPr lang="ko-KR" altLang="en-US" sz="2199" dirty="0"/>
                <a:t> 모델 학습이 아닌</a:t>
              </a:r>
              <a:r>
                <a:rPr lang="en-US" altLang="ko-KR" sz="2199" dirty="0"/>
                <a:t>,</a:t>
              </a:r>
              <a:r>
                <a:rPr lang="ko-KR" altLang="en-US" sz="2199" dirty="0"/>
                <a:t> </a:t>
              </a:r>
              <a:r>
                <a:rPr lang="en-US" altLang="ko-KR" sz="2199" dirty="0"/>
                <a:t>AI</a:t>
              </a:r>
              <a:r>
                <a:rPr lang="ko-KR" altLang="en-US" sz="2199" dirty="0"/>
                <a:t> 모델 응용 및 알고리즘에 관한 내용이므로 많은 양의 데이터가 불필요했다</a:t>
              </a:r>
              <a:r>
                <a:rPr lang="en-US" altLang="ko-KR" sz="2199" dirty="0"/>
                <a:t>.</a:t>
              </a:r>
              <a:r>
                <a:rPr lang="ko-KR" altLang="en-US" sz="2199" dirty="0"/>
                <a:t> </a:t>
              </a:r>
            </a:p>
            <a:p>
              <a:pPr marL="314155" indent="-31415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199" dirty="0" err="1"/>
                <a:t>EasyOCR</a:t>
              </a:r>
              <a:r>
                <a:rPr lang="en-US" sz="2199" dirty="0"/>
                <a:t> vs </a:t>
              </a:r>
              <a:r>
                <a:rPr lang="ko-KR" altLang="en-US" sz="2199" dirty="0"/>
                <a:t>제안 방식 비교를 통해 문제 객체 인식률 및 숫자 인식률 측정했다</a:t>
              </a:r>
              <a:r>
                <a:rPr lang="en-US" altLang="ko-KR" sz="2199" dirty="0"/>
                <a:t>.</a:t>
              </a:r>
              <a:endParaRPr lang="ko-KR" altLang="en-US" sz="2199" dirty="0"/>
            </a:p>
            <a:p>
              <a:pPr marL="314155" indent="-31415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199" dirty="0"/>
                <a:t>평가 지표</a:t>
              </a:r>
              <a:r>
                <a:rPr lang="en-US" altLang="ko-KR" sz="2199" dirty="0"/>
                <a:t>: </a:t>
              </a:r>
              <a:r>
                <a:rPr lang="ko-KR" altLang="en-US" sz="2199" dirty="0"/>
                <a:t>문제 객체 인식률</a:t>
              </a:r>
              <a:r>
                <a:rPr lang="en-US" altLang="ko-KR" sz="2199" dirty="0"/>
                <a:t>, </a:t>
              </a:r>
              <a:r>
                <a:rPr lang="ko-KR" altLang="en-US" sz="2199" dirty="0"/>
                <a:t>숫자 인식률</a:t>
              </a:r>
            </a:p>
            <a:p>
              <a:pPr marL="314155" indent="-31415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199" dirty="0"/>
                <a:t>실험 환경</a:t>
              </a:r>
              <a:r>
                <a:rPr lang="en-US" altLang="ko-KR" sz="2199" dirty="0"/>
                <a:t>: </a:t>
              </a:r>
              <a:r>
                <a:rPr lang="en-US" sz="2199" dirty="0"/>
                <a:t>YOLOv10, OpenCV, </a:t>
              </a:r>
              <a:r>
                <a:rPr lang="en-US" sz="2199" dirty="0" err="1"/>
                <a:t>EasyOCR</a:t>
              </a:r>
              <a:r>
                <a:rPr lang="en-US" sz="2199" dirty="0"/>
                <a:t>, </a:t>
              </a:r>
              <a:r>
                <a:rPr lang="en-US" sz="2199" dirty="0" err="1"/>
                <a:t>HuggingFace</a:t>
              </a:r>
              <a:r>
                <a:rPr lang="en-US" sz="2199" dirty="0"/>
                <a:t> MNIST </a:t>
              </a:r>
              <a:r>
                <a:rPr lang="ko-KR" altLang="en-US" sz="2199" dirty="0"/>
                <a:t>모델을 사용했다</a:t>
              </a:r>
              <a:r>
                <a:rPr lang="en-US" altLang="ko-KR" sz="2199" dirty="0"/>
                <a:t>.</a:t>
              </a:r>
              <a:endParaRPr lang="ko-KR" altLang="en-US" sz="2199" dirty="0"/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9CDD8F61-6A1B-345D-C069-5B18DBE8B1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0244" y="33434030"/>
            <a:ext cx="2435756" cy="240452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3CF3A37-3CE7-B61B-9633-5730B969DDBF}"/>
              </a:ext>
            </a:extLst>
          </p:cNvPr>
          <p:cNvSpPr txBox="1"/>
          <p:nvPr/>
        </p:nvSpPr>
        <p:spPr>
          <a:xfrm>
            <a:off x="15214351" y="15827408"/>
            <a:ext cx="9900418" cy="2461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99" b="1" dirty="0" err="1"/>
              <a:t>EasyOCR</a:t>
            </a:r>
            <a:r>
              <a:rPr lang="en-US" sz="2199" b="1" dirty="0"/>
              <a:t> </a:t>
            </a:r>
            <a:r>
              <a:rPr lang="ko-KR" altLang="en-US" sz="2199" b="1" dirty="0"/>
              <a:t>단독 사용 시</a:t>
            </a:r>
            <a:r>
              <a:rPr lang="en-US" altLang="ko-KR" sz="2199" b="1" dirty="0"/>
              <a:t>(</a:t>
            </a:r>
            <a:r>
              <a:rPr lang="ko-KR" altLang="en-US" sz="2199" b="1" dirty="0"/>
              <a:t>좌</a:t>
            </a:r>
            <a:r>
              <a:rPr lang="en-US" altLang="ko-KR" sz="2199" b="1" dirty="0"/>
              <a:t>):</a:t>
            </a:r>
          </a:p>
          <a:p>
            <a:r>
              <a:rPr lang="en-US" altLang="ko-KR" sz="2199" dirty="0"/>
              <a:t>	</a:t>
            </a:r>
            <a:r>
              <a:rPr lang="ko-KR" altLang="en-US" sz="2199" dirty="0"/>
              <a:t>문제 객체 인식률</a:t>
            </a:r>
            <a:r>
              <a:rPr lang="en-US" altLang="ko-KR" sz="2199" dirty="0"/>
              <a:t>: 38.33%, </a:t>
            </a:r>
            <a:r>
              <a:rPr lang="ko-KR" altLang="en-US" sz="2199" dirty="0"/>
              <a:t>숫자 인식률</a:t>
            </a:r>
            <a:r>
              <a:rPr lang="en-US" altLang="ko-KR" sz="2199" dirty="0"/>
              <a:t>: 26.43%</a:t>
            </a:r>
          </a:p>
          <a:p>
            <a:endParaRPr lang="en-US" altLang="ko-KR" sz="2199" dirty="0"/>
          </a:p>
          <a:p>
            <a:r>
              <a:rPr lang="ko-KR" altLang="en-US" sz="2199" b="1" dirty="0"/>
              <a:t>제안 방식 사용 시</a:t>
            </a:r>
            <a:r>
              <a:rPr lang="en-US" altLang="ko-KR" sz="2199" b="1" dirty="0"/>
              <a:t>(</a:t>
            </a:r>
            <a:r>
              <a:rPr lang="ko-KR" altLang="en-US" sz="2199" b="1" dirty="0"/>
              <a:t>우</a:t>
            </a:r>
            <a:r>
              <a:rPr lang="en-US" altLang="ko-KR" sz="2199" b="1" dirty="0"/>
              <a:t>):</a:t>
            </a:r>
          </a:p>
          <a:p>
            <a:pPr lvl="1"/>
            <a:r>
              <a:rPr lang="ko-KR" altLang="en-US" sz="2199" dirty="0"/>
              <a:t>문제 객체 인식률</a:t>
            </a:r>
            <a:r>
              <a:rPr lang="en-US" altLang="ko-KR" sz="2199" dirty="0"/>
              <a:t>: 98.33%, </a:t>
            </a:r>
            <a:r>
              <a:rPr lang="ko-KR" altLang="en-US" sz="2199" dirty="0"/>
              <a:t>숫자 인식률</a:t>
            </a:r>
            <a:r>
              <a:rPr lang="en-US" altLang="ko-KR" sz="2199" dirty="0"/>
              <a:t>: 75.86%</a:t>
            </a:r>
          </a:p>
          <a:p>
            <a:pPr lvl="1"/>
            <a:r>
              <a:rPr lang="ko-KR" altLang="en-US" sz="2199" dirty="0" err="1"/>
              <a:t>전처리</a:t>
            </a:r>
            <a:r>
              <a:rPr lang="ko-KR" altLang="en-US" sz="2199" dirty="0"/>
              <a:t> 기법이 </a:t>
            </a:r>
            <a:r>
              <a:rPr lang="en-US" sz="2199" dirty="0"/>
              <a:t>OCR </a:t>
            </a:r>
            <a:r>
              <a:rPr lang="ko-KR" altLang="en-US" sz="2199" dirty="0"/>
              <a:t>정확도 향상에 큰 기여를 함</a:t>
            </a:r>
          </a:p>
          <a:p>
            <a:endParaRPr lang="en-KR" sz="2199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9796051-549A-BAEF-DF4B-B61EBCF0FD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82585" y="16278087"/>
            <a:ext cx="5894239" cy="140016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893731A-7DD7-EE6B-B60E-4FDC6F07ED85}"/>
              </a:ext>
            </a:extLst>
          </p:cNvPr>
          <p:cNvSpPr txBox="1"/>
          <p:nvPr/>
        </p:nvSpPr>
        <p:spPr>
          <a:xfrm>
            <a:off x="15214351" y="18386222"/>
            <a:ext cx="9789859" cy="769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199" dirty="0"/>
              <a:t>문제 객체 인식을 정상적으로 수행한다면 사용자에게 되묻는 추가 로직을 통해 </a:t>
            </a:r>
            <a:endParaRPr lang="en-US" altLang="ko-KR" sz="2199" dirty="0"/>
          </a:p>
          <a:p>
            <a:r>
              <a:rPr lang="en-US" altLang="ko-KR" sz="2199" b="1" dirty="0"/>
              <a:t>100%</a:t>
            </a:r>
            <a:r>
              <a:rPr lang="ko-KR" altLang="en-US" sz="2199" b="1" dirty="0"/>
              <a:t> 숫자 인식이 가능하다</a:t>
            </a:r>
            <a:r>
              <a:rPr lang="en-US" altLang="ko-KR" sz="2199" dirty="0"/>
              <a:t>.</a:t>
            </a:r>
            <a:r>
              <a:rPr lang="ko-KR" altLang="en-US" sz="2199" dirty="0"/>
              <a:t> </a:t>
            </a:r>
            <a:endParaRPr lang="en-KR" sz="2199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2070E12-0F2E-2E33-4531-C0088E0EA9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27299" y="9662155"/>
            <a:ext cx="3912079" cy="586026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F286482-E617-4552-1824-3365211939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80572" y="9704732"/>
            <a:ext cx="3912078" cy="584492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15727C7-CD18-219B-D6D0-433C48C40B68}"/>
              </a:ext>
            </a:extLst>
          </p:cNvPr>
          <p:cNvSpPr txBox="1"/>
          <p:nvPr/>
        </p:nvSpPr>
        <p:spPr>
          <a:xfrm>
            <a:off x="15278666" y="22000515"/>
            <a:ext cx="11831049" cy="4608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199" b="1" dirty="0"/>
              <a:t>Conclusion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/>
              <a:t>기존 </a:t>
            </a:r>
            <a:r>
              <a:rPr lang="en-US" sz="2199" dirty="0"/>
              <a:t>OCR </a:t>
            </a:r>
            <a:r>
              <a:rPr lang="ko-KR" altLang="en-US" sz="2199" dirty="0"/>
              <a:t>엔진</a:t>
            </a:r>
            <a:r>
              <a:rPr lang="en-US" altLang="ko-KR" sz="2199" dirty="0"/>
              <a:t>(</a:t>
            </a:r>
            <a:r>
              <a:rPr lang="en-US" sz="2199" dirty="0" err="1"/>
              <a:t>EasyOCR</a:t>
            </a:r>
            <a:r>
              <a:rPr lang="en-US" sz="2199" dirty="0"/>
              <a:t>)</a:t>
            </a:r>
            <a:r>
              <a:rPr lang="ko-KR" altLang="en-US" sz="2199" dirty="0"/>
              <a:t>은 </a:t>
            </a:r>
            <a:r>
              <a:rPr lang="ko-KR" altLang="en-US" sz="2199" dirty="0" err="1"/>
              <a:t>손글씨가</a:t>
            </a:r>
            <a:r>
              <a:rPr lang="ko-KR" altLang="en-US" sz="2199" dirty="0"/>
              <a:t> 포함된 시험지에서 낮은 인식 성능</a:t>
            </a:r>
            <a:r>
              <a:rPr lang="en-US" altLang="ko-KR" sz="2199" dirty="0"/>
              <a:t>(</a:t>
            </a:r>
            <a:r>
              <a:rPr lang="ko-KR" altLang="en-US" sz="2199" dirty="0"/>
              <a:t>문제 객체 </a:t>
            </a:r>
            <a:r>
              <a:rPr lang="en-US" altLang="ko-KR" sz="2199" dirty="0"/>
              <a:t>38.33%, </a:t>
            </a:r>
            <a:r>
              <a:rPr lang="ko-KR" altLang="en-US" sz="2199" dirty="0"/>
              <a:t>숫자 </a:t>
            </a:r>
            <a:r>
              <a:rPr lang="en-US" altLang="ko-KR" sz="2199" dirty="0"/>
              <a:t>26.43%)</a:t>
            </a:r>
            <a:r>
              <a:rPr lang="ko-KR" altLang="en-US" sz="2199" dirty="0"/>
              <a:t>을 보임</a:t>
            </a:r>
            <a:r>
              <a:rPr lang="en-US" altLang="ko-KR" sz="2199" dirty="0"/>
              <a:t>.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/>
              <a:t>이를 개선하기 위해 </a:t>
            </a:r>
            <a:r>
              <a:rPr lang="en-US" sz="2199" dirty="0"/>
              <a:t>YOLOv10</a:t>
            </a:r>
            <a:r>
              <a:rPr lang="ko-KR" altLang="en-US" sz="2199" dirty="0" err="1"/>
              <a:t>를</a:t>
            </a:r>
            <a:r>
              <a:rPr lang="ko-KR" altLang="en-US" sz="2199" dirty="0"/>
              <a:t> 활용한 </a:t>
            </a:r>
            <a:r>
              <a:rPr lang="en-US" altLang="ko-KR" sz="2199" dirty="0"/>
              <a:t>3</a:t>
            </a:r>
            <a:r>
              <a:rPr lang="ko-KR" altLang="en-US" sz="2199" dirty="0"/>
              <a:t>단계 </a:t>
            </a:r>
            <a:r>
              <a:rPr lang="ko-KR" altLang="en-US" sz="2199" dirty="0" err="1"/>
              <a:t>전처리</a:t>
            </a:r>
            <a:r>
              <a:rPr lang="ko-KR" altLang="en-US" sz="2199" dirty="0"/>
              <a:t> 파이프라인</a:t>
            </a:r>
            <a:r>
              <a:rPr lang="en-US" altLang="ko-KR" sz="2199" dirty="0"/>
              <a:t>(</a:t>
            </a:r>
            <a:r>
              <a:rPr lang="en-US" sz="2199" dirty="0"/>
              <a:t>Half Cropped → Horizontally Cropped → Text Cropped)</a:t>
            </a:r>
            <a:r>
              <a:rPr lang="ko-KR" altLang="en-US" sz="2199" dirty="0"/>
              <a:t>을 제안함</a:t>
            </a:r>
            <a:r>
              <a:rPr lang="en-US" altLang="ko-KR" sz="2199" dirty="0"/>
              <a:t>.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 err="1"/>
              <a:t>전처리</a:t>
            </a:r>
            <a:r>
              <a:rPr lang="ko-KR" altLang="en-US" sz="2199" dirty="0"/>
              <a:t> 된 개별 숫자 이미지를 </a:t>
            </a:r>
            <a:r>
              <a:rPr lang="en-US" sz="2199" dirty="0"/>
              <a:t>MNIST </a:t>
            </a:r>
            <a:r>
              <a:rPr lang="ko-KR" altLang="en-US" sz="2199" dirty="0"/>
              <a:t>분류기로 인식함으로써 숫자 인식 정확도를 </a:t>
            </a:r>
            <a:r>
              <a:rPr lang="en-US" altLang="ko-KR" sz="2199" dirty="0"/>
              <a:t>75.86%</a:t>
            </a:r>
            <a:r>
              <a:rPr lang="ko-KR" altLang="en-US" sz="2199" dirty="0"/>
              <a:t>까지 향상시킴</a:t>
            </a:r>
            <a:r>
              <a:rPr lang="en-US" altLang="ko-KR" sz="2199" dirty="0"/>
              <a:t>.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/>
              <a:t>실험 결과는 실제 시험 채점 시스템에 활용 가능한 수준의 정밀도를 확보했음을 의미함</a:t>
            </a:r>
            <a:r>
              <a:rPr lang="en-US" altLang="ko-KR" sz="2199" dirty="0"/>
              <a:t>.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/>
              <a:t>본 연구는 이미지 전처리가 </a:t>
            </a:r>
            <a:r>
              <a:rPr lang="en-US" sz="2199" dirty="0"/>
              <a:t>OCR </a:t>
            </a:r>
            <a:r>
              <a:rPr lang="ko-KR" altLang="en-US" sz="2199" dirty="0"/>
              <a:t>성능 개선에 핵심적인 역할을 한다는 점을 실증적으로 보여줌</a:t>
            </a:r>
            <a:r>
              <a:rPr lang="en-US" altLang="ko-KR" sz="2199" dirty="0"/>
              <a:t>.</a:t>
            </a:r>
          </a:p>
        </p:txBody>
      </p:sp>
      <p:sp>
        <p:nvSpPr>
          <p:cNvPr id="53" name="모서리가 둥근 직사각형 70">
            <a:extLst>
              <a:ext uri="{FF2B5EF4-FFF2-40B4-BE49-F238E27FC236}">
                <a16:creationId xmlns:a16="http://schemas.microsoft.com/office/drawing/2014/main" id="{F6AC1239-E25C-E2DD-50EE-74D78150CBD1}"/>
              </a:ext>
            </a:extLst>
          </p:cNvPr>
          <p:cNvSpPr/>
          <p:nvPr/>
        </p:nvSpPr>
        <p:spPr>
          <a:xfrm>
            <a:off x="615656" y="33277570"/>
            <a:ext cx="13336780" cy="2717449"/>
          </a:xfrm>
          <a:prstGeom prst="roundRect">
            <a:avLst/>
          </a:prstGeom>
          <a:noFill/>
          <a:ln>
            <a:solidFill>
              <a:srgbClr val="004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29" dirty="0"/>
          </a:p>
        </p:txBody>
      </p:sp>
      <p:grpSp>
        <p:nvGrpSpPr>
          <p:cNvPr id="54" name="그룹 71">
            <a:extLst>
              <a:ext uri="{FF2B5EF4-FFF2-40B4-BE49-F238E27FC236}">
                <a16:creationId xmlns:a16="http://schemas.microsoft.com/office/drawing/2014/main" id="{0EED7B28-5C41-7A1C-45D4-9F22680D1A26}"/>
              </a:ext>
            </a:extLst>
          </p:cNvPr>
          <p:cNvGrpSpPr/>
          <p:nvPr/>
        </p:nvGrpSpPr>
        <p:grpSpPr>
          <a:xfrm>
            <a:off x="615656" y="32476358"/>
            <a:ext cx="7260456" cy="801214"/>
            <a:chOff x="635813" y="5147687"/>
            <a:chExt cx="7925384" cy="874591"/>
          </a:xfrm>
        </p:grpSpPr>
        <p:cxnSp>
          <p:nvCxnSpPr>
            <p:cNvPr id="55" name="직선 연결선[R] 72">
              <a:extLst>
                <a:ext uri="{FF2B5EF4-FFF2-40B4-BE49-F238E27FC236}">
                  <a16:creationId xmlns:a16="http://schemas.microsoft.com/office/drawing/2014/main" id="{4E254466-997E-183C-A888-AAE7545C8C29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3" y="6022278"/>
              <a:ext cx="50707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585226-4540-EAE9-87E1-A706A98A41FF}"/>
                </a:ext>
              </a:extLst>
            </p:cNvPr>
            <p:cNvSpPr txBox="1"/>
            <p:nvPr/>
          </p:nvSpPr>
          <p:spPr>
            <a:xfrm>
              <a:off x="635813" y="5147687"/>
              <a:ext cx="7925384" cy="8394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06997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4397" b="1" spc="-58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latin typeface="+mj-ea"/>
                  <a:ea typeface="+mj-ea"/>
                  <a:cs typeface="함초롬돋움" panose="020B0604000101010101" pitchFamily="50" charset="-127"/>
                </a:rPr>
                <a:t>GITHUB LINK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9903BEF8-A100-851A-F79A-E52D7F786303}"/>
              </a:ext>
            </a:extLst>
          </p:cNvPr>
          <p:cNvSpPr txBox="1"/>
          <p:nvPr/>
        </p:nvSpPr>
        <p:spPr>
          <a:xfrm>
            <a:off x="2074634" y="34510034"/>
            <a:ext cx="7141699" cy="430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99" dirty="0" err="1"/>
              <a:t>Github</a:t>
            </a:r>
            <a:r>
              <a:rPr lang="ko-KR" altLang="en-US" sz="2199" dirty="0"/>
              <a:t> 페이지에서 더 자세한 내용을 확인할 수 있습니다</a:t>
            </a:r>
            <a:r>
              <a:rPr lang="en-US" altLang="ko-KR" sz="2199" dirty="0"/>
              <a:t>.</a:t>
            </a:r>
            <a:endParaRPr lang="en-KR" sz="2199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AD38ED-1CBA-5ADC-2101-92892B1045BF}"/>
              </a:ext>
            </a:extLst>
          </p:cNvPr>
          <p:cNvSpPr txBox="1"/>
          <p:nvPr/>
        </p:nvSpPr>
        <p:spPr>
          <a:xfrm>
            <a:off x="14955587" y="33618027"/>
            <a:ext cx="12462472" cy="2122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199" dirty="0"/>
              <a:t>이 논문은 </a:t>
            </a:r>
            <a:r>
              <a:rPr lang="en-US" altLang="ko-KR" sz="2199" dirty="0"/>
              <a:t>2024 </a:t>
            </a:r>
            <a:r>
              <a:rPr lang="ko-KR" altLang="en-US" sz="2199" dirty="0"/>
              <a:t>년도 정부</a:t>
            </a:r>
            <a:r>
              <a:rPr lang="en-US" altLang="ko-KR" sz="2199" dirty="0"/>
              <a:t>(</a:t>
            </a:r>
            <a:r>
              <a:rPr lang="ko-KR" altLang="en-US" sz="2199" dirty="0"/>
              <a:t>과학기술정보통신부</a:t>
            </a:r>
            <a:r>
              <a:rPr lang="en-US" altLang="ko-KR" sz="2199" dirty="0"/>
              <a:t>)</a:t>
            </a:r>
            <a:r>
              <a:rPr lang="ko-KR" altLang="en-US" sz="2199" dirty="0"/>
              <a:t>의 재원으로 정보통신기획평가원</a:t>
            </a:r>
            <a:r>
              <a:rPr lang="en-US" altLang="ko-KR" sz="2199" dirty="0"/>
              <a:t>-</a:t>
            </a:r>
            <a:r>
              <a:rPr lang="ko-KR" altLang="en-US" sz="2199" dirty="0"/>
              <a:t>학</a:t>
            </a:r>
            <a:r>
              <a:rPr lang="en-US" altLang="ko-KR" sz="2199" dirty="0"/>
              <a:t>.</a:t>
            </a:r>
            <a:r>
              <a:rPr lang="ko-KR" altLang="en-US" sz="2199" dirty="0"/>
              <a:t>석사연계 </a:t>
            </a:r>
            <a:r>
              <a:rPr lang="en-US" sz="2199" dirty="0"/>
              <a:t>ICT </a:t>
            </a:r>
            <a:r>
              <a:rPr lang="ko-KR" altLang="en-US" sz="2199" dirty="0"/>
              <a:t>핵심인재양성 지원을 받아 수행된 연구임</a:t>
            </a:r>
            <a:r>
              <a:rPr lang="en-US" altLang="ko-KR" sz="2199" dirty="0"/>
              <a:t>(</a:t>
            </a:r>
            <a:r>
              <a:rPr lang="en-US" sz="2199" dirty="0"/>
              <a:t>RS-2024-00437027)</a:t>
            </a:r>
            <a:r>
              <a:rPr lang="en-US" altLang="ko-KR" sz="2199" dirty="0"/>
              <a:t>,</a:t>
            </a:r>
            <a:r>
              <a:rPr lang="ko-KR" altLang="en-US" sz="2199" dirty="0"/>
              <a:t> </a:t>
            </a:r>
            <a:endParaRPr lang="en-US" altLang="ko-KR" sz="2199" dirty="0"/>
          </a:p>
          <a:p>
            <a:r>
              <a:rPr lang="ko-KR" altLang="en-US" sz="2199" dirty="0"/>
              <a:t>본 연구는 </a:t>
            </a:r>
            <a:r>
              <a:rPr lang="en-US" altLang="ko-KR" sz="2199" dirty="0"/>
              <a:t>2024 </a:t>
            </a:r>
            <a:r>
              <a:rPr lang="ko-KR" altLang="en-US" sz="2199" dirty="0"/>
              <a:t>년 </a:t>
            </a:r>
            <a:r>
              <a:rPr lang="ko-KR" altLang="en-US" sz="2199" dirty="0" err="1"/>
              <a:t>과학기술정통신부</a:t>
            </a:r>
            <a:r>
              <a:rPr lang="ko-KR" altLang="en-US" sz="2199" dirty="0"/>
              <a:t> 및 정보통신기획평가원의 </a:t>
            </a:r>
            <a:r>
              <a:rPr lang="en-US" sz="2199" dirty="0"/>
              <a:t>SW </a:t>
            </a:r>
            <a:r>
              <a:rPr lang="ko-KR" altLang="en-US" sz="2199" dirty="0"/>
              <a:t>중심대학사업 지원을 받아 수행되었음</a:t>
            </a:r>
            <a:r>
              <a:rPr lang="en-US" altLang="ko-KR" sz="2199" dirty="0"/>
              <a:t>"(2024-0-00035),</a:t>
            </a:r>
          </a:p>
          <a:p>
            <a:r>
              <a:rPr lang="ko-KR" altLang="en-US" sz="2199" dirty="0"/>
              <a:t>본 연구는 </a:t>
            </a:r>
            <a:r>
              <a:rPr lang="en-US" altLang="ko-KR" sz="2199" dirty="0"/>
              <a:t>2024 </a:t>
            </a:r>
            <a:r>
              <a:rPr lang="ko-KR" altLang="en-US" sz="2199" dirty="0"/>
              <a:t>년도 과학기술정보통신부 및 정보통신기획평가원의 대학 </a:t>
            </a:r>
            <a:r>
              <a:rPr lang="en-US" sz="2199" dirty="0"/>
              <a:t>ICT </a:t>
            </a:r>
            <a:r>
              <a:rPr lang="ko-KR" altLang="en-US" sz="2199" dirty="0"/>
              <a:t>연구센터사업의 연구결과로 수행되었음</a:t>
            </a:r>
            <a:r>
              <a:rPr lang="en-US" altLang="ko-KR" sz="2199" dirty="0"/>
              <a:t>(</a:t>
            </a:r>
            <a:r>
              <a:rPr lang="en-US" sz="2199" dirty="0"/>
              <a:t>RS-2024-00437102</a:t>
            </a:r>
            <a:r>
              <a:rPr lang="en-US" altLang="ko-KR" sz="2199" dirty="0"/>
              <a:t>)</a:t>
            </a:r>
            <a:endParaRPr lang="en-US" sz="2199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953EAF-2FEA-5A79-F6CF-955934EC1EFA}"/>
              </a:ext>
            </a:extLst>
          </p:cNvPr>
          <p:cNvSpPr txBox="1"/>
          <p:nvPr/>
        </p:nvSpPr>
        <p:spPr>
          <a:xfrm>
            <a:off x="15214352" y="27354483"/>
            <a:ext cx="12462472" cy="461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199" b="1" dirty="0"/>
              <a:t>Future Plan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/>
              <a:t>시스템화 및 </a:t>
            </a:r>
            <a:r>
              <a:rPr lang="en-US" sz="2199" dirty="0"/>
              <a:t>UI </a:t>
            </a:r>
            <a:r>
              <a:rPr lang="ko-KR" altLang="en-US" sz="2199" dirty="0"/>
              <a:t>구현</a:t>
            </a:r>
            <a:r>
              <a:rPr lang="en-US" altLang="ko-KR" sz="2199" dirty="0"/>
              <a:t>: </a:t>
            </a:r>
            <a:r>
              <a:rPr lang="ko-KR" altLang="en-US" sz="2199" dirty="0"/>
              <a:t>웹 기반 또는 데스크탑 애플리케이션 형태의 </a:t>
            </a:r>
            <a:r>
              <a:rPr lang="en-US" sz="2199" dirty="0"/>
              <a:t>UI</a:t>
            </a:r>
            <a:r>
              <a:rPr lang="ko-KR" altLang="en-US" sz="2199" dirty="0" err="1"/>
              <a:t>를</a:t>
            </a:r>
            <a:r>
              <a:rPr lang="ko-KR" altLang="en-US" sz="2199" dirty="0"/>
              <a:t> 구축하여 사용자가 시험지를 업로드하면 자동 채점 결과와 원본 이미지가 함께 출력되도록 할 계획이다</a:t>
            </a:r>
            <a:r>
              <a:rPr lang="en-US" altLang="ko-KR" sz="2199" dirty="0"/>
              <a:t>.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/>
              <a:t>누락 및 오인식 보완 기능</a:t>
            </a:r>
            <a:r>
              <a:rPr lang="en-US" altLang="ko-KR" sz="2199" dirty="0"/>
              <a:t>: </a:t>
            </a:r>
            <a:r>
              <a:rPr lang="en-US" sz="2199" dirty="0"/>
              <a:t>OCR </a:t>
            </a:r>
            <a:r>
              <a:rPr lang="ko-KR" altLang="en-US" sz="2199" dirty="0"/>
              <a:t>결과의 신뢰도가 낮은 경우 사용자 확인이 가능하도록 수동 정정 인터페이스를 추가하여 실사용 가능성을 높일 계획이다</a:t>
            </a:r>
            <a:r>
              <a:rPr lang="en-US" altLang="ko-KR" sz="2199" dirty="0"/>
              <a:t>.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/>
              <a:t>데이터셋 확보</a:t>
            </a:r>
            <a:r>
              <a:rPr lang="en-US" altLang="ko-KR" sz="2199" dirty="0"/>
              <a:t>:</a:t>
            </a:r>
            <a:r>
              <a:rPr lang="ko-KR" altLang="en-US" sz="2199" dirty="0"/>
              <a:t> 사용자를 통해 제공받는 정정 데이터셋을 확보해 </a:t>
            </a:r>
            <a:r>
              <a:rPr lang="ko-KR" altLang="en-US" sz="2199" dirty="0" err="1"/>
              <a:t>손글씨</a:t>
            </a:r>
            <a:r>
              <a:rPr lang="ko-KR" altLang="en-US" sz="2199" dirty="0"/>
              <a:t> 인식률을 높일 계획이다</a:t>
            </a:r>
            <a:r>
              <a:rPr lang="en-US" altLang="ko-KR" sz="2199" dirty="0"/>
              <a:t>.</a:t>
            </a:r>
          </a:p>
          <a:p>
            <a:pPr marL="314155" indent="-3141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99" dirty="0"/>
              <a:t>모델 훈련</a:t>
            </a:r>
            <a:r>
              <a:rPr lang="en-US" altLang="ko-KR" sz="2199" dirty="0"/>
              <a:t>:</a:t>
            </a:r>
            <a:r>
              <a:rPr lang="ko-KR" altLang="en-US" sz="2199" dirty="0"/>
              <a:t> 확보될 데이터들을 모두 반영할 수 있는 더 복잡한 분류 모델을 선정하거나 설계하여 훈련할 계획이다</a:t>
            </a:r>
            <a:r>
              <a:rPr lang="en-US" altLang="ko-KR" sz="2199" dirty="0"/>
              <a:t>.</a:t>
            </a:r>
          </a:p>
          <a:p>
            <a:pPr>
              <a:lnSpc>
                <a:spcPct val="150000"/>
              </a:lnSpc>
            </a:pPr>
            <a:endParaRPr lang="en-KR" sz="2199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6B37564A-E095-245B-4C60-C9E2EAB41F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1577" y="36493477"/>
            <a:ext cx="8436909" cy="24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0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1874</TotalTime>
  <Words>562</Words>
  <Application>Microsoft Macintosh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Malgun Gothic</vt:lpstr>
      <vt:lpstr>Malgun Gothic</vt:lpstr>
      <vt:lpstr>Aptos</vt:lpstr>
      <vt:lpstr>Aptos Display</vt:lpstr>
      <vt:lpstr>Arial</vt:lpstr>
      <vt:lpstr>Office 테마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정은 허</dc:creator>
  <cp:keywords/>
  <dc:description/>
  <cp:lastModifiedBy>정다훈</cp:lastModifiedBy>
  <cp:revision>90</cp:revision>
  <dcterms:created xsi:type="dcterms:W3CDTF">2024-12-09T09:00:11Z</dcterms:created>
  <dcterms:modified xsi:type="dcterms:W3CDTF">2025-07-01T04:38:18Z</dcterms:modified>
  <cp:category/>
</cp:coreProperties>
</file>