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</p:sldIdLst>
  <p:sldSz cx="41400413" cy="4679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CD1"/>
    <a:srgbClr val="33A1C8"/>
    <a:srgbClr val="DA1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/>
    <p:restoredTop sz="96405"/>
  </p:normalViewPr>
  <p:slideViewPr>
    <p:cSldViewPr snapToGrid="0">
      <p:cViewPr varScale="1">
        <p:scale>
          <a:sx n="16" d="100"/>
          <a:sy n="16" d="100"/>
        </p:scale>
        <p:origin x="22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031" y="7659088"/>
            <a:ext cx="35190351" cy="16293159"/>
          </a:xfrm>
        </p:spPr>
        <p:txBody>
          <a:bodyPr anchor="b"/>
          <a:lstStyle>
            <a:lvl1pPr algn="ctr">
              <a:defRPr sz="2716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052" y="24580574"/>
            <a:ext cx="31050310" cy="11299043"/>
          </a:xfrm>
        </p:spPr>
        <p:txBody>
          <a:bodyPr/>
          <a:lstStyle>
            <a:lvl1pPr marL="0" indent="0" algn="ctr">
              <a:buNone/>
              <a:defRPr sz="10866"/>
            </a:lvl1pPr>
            <a:lvl2pPr marL="2070019" indent="0" algn="ctr">
              <a:buNone/>
              <a:defRPr sz="9055"/>
            </a:lvl2pPr>
            <a:lvl3pPr marL="4140037" indent="0" algn="ctr">
              <a:buNone/>
              <a:defRPr sz="8150"/>
            </a:lvl3pPr>
            <a:lvl4pPr marL="6210056" indent="0" algn="ctr">
              <a:buNone/>
              <a:defRPr sz="7244"/>
            </a:lvl4pPr>
            <a:lvl5pPr marL="8280075" indent="0" algn="ctr">
              <a:buNone/>
              <a:defRPr sz="7244"/>
            </a:lvl5pPr>
            <a:lvl6pPr marL="10350094" indent="0" algn="ctr">
              <a:buNone/>
              <a:defRPr sz="7244"/>
            </a:lvl6pPr>
            <a:lvl7pPr marL="12420112" indent="0" algn="ctr">
              <a:buNone/>
              <a:defRPr sz="7244"/>
            </a:lvl7pPr>
            <a:lvl8pPr marL="14490131" indent="0" algn="ctr">
              <a:buNone/>
              <a:defRPr sz="7244"/>
            </a:lvl8pPr>
            <a:lvl9pPr marL="16560150" indent="0" algn="ctr">
              <a:buNone/>
              <a:defRPr sz="724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7931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00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718" y="11667389"/>
            <a:ext cx="35707856" cy="19467289"/>
          </a:xfrm>
        </p:spPr>
        <p:txBody>
          <a:bodyPr anchor="b"/>
          <a:lstStyle>
            <a:lvl1pPr>
              <a:defRPr sz="2716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718" y="31318846"/>
            <a:ext cx="35707856" cy="10237387"/>
          </a:xfrm>
        </p:spPr>
        <p:txBody>
          <a:bodyPr/>
          <a:lstStyle>
            <a:lvl1pPr marL="0" indent="0">
              <a:buNone/>
              <a:defRPr sz="10866">
                <a:solidFill>
                  <a:schemeClr val="tx1"/>
                </a:solidFill>
              </a:defRPr>
            </a:lvl1pPr>
            <a:lvl2pPr marL="2070019" indent="0">
              <a:buNone/>
              <a:defRPr sz="9055">
                <a:solidFill>
                  <a:schemeClr val="tx1">
                    <a:tint val="75000"/>
                  </a:schemeClr>
                </a:solidFill>
              </a:defRPr>
            </a:lvl2pPr>
            <a:lvl3pPr marL="4140037" indent="0">
              <a:buNone/>
              <a:defRPr sz="8150">
                <a:solidFill>
                  <a:schemeClr val="tx1">
                    <a:tint val="75000"/>
                  </a:schemeClr>
                </a:solidFill>
              </a:defRPr>
            </a:lvl3pPr>
            <a:lvl4pPr marL="6210056" indent="0">
              <a:buNone/>
              <a:defRPr sz="7244">
                <a:solidFill>
                  <a:schemeClr val="tx1">
                    <a:tint val="75000"/>
                  </a:schemeClr>
                </a:solidFill>
              </a:defRPr>
            </a:lvl4pPr>
            <a:lvl5pPr marL="8280075" indent="0">
              <a:buNone/>
              <a:defRPr sz="7244">
                <a:solidFill>
                  <a:schemeClr val="tx1">
                    <a:tint val="75000"/>
                  </a:schemeClr>
                </a:solidFill>
              </a:defRPr>
            </a:lvl5pPr>
            <a:lvl6pPr marL="10350094" indent="0">
              <a:buNone/>
              <a:defRPr sz="7244">
                <a:solidFill>
                  <a:schemeClr val="tx1">
                    <a:tint val="75000"/>
                  </a:schemeClr>
                </a:solidFill>
              </a:defRPr>
            </a:lvl6pPr>
            <a:lvl7pPr marL="12420112" indent="0">
              <a:buNone/>
              <a:defRPr sz="7244">
                <a:solidFill>
                  <a:schemeClr val="tx1">
                    <a:tint val="75000"/>
                  </a:schemeClr>
                </a:solidFill>
              </a:defRPr>
            </a:lvl7pPr>
            <a:lvl8pPr marL="14490131" indent="0">
              <a:buNone/>
              <a:defRPr sz="7244">
                <a:solidFill>
                  <a:schemeClr val="tx1">
                    <a:tint val="75000"/>
                  </a:schemeClr>
                </a:solidFill>
              </a:defRPr>
            </a:lvl8pPr>
            <a:lvl9pPr marL="16560150" indent="0">
              <a:buNone/>
              <a:defRPr sz="72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084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278" y="12458200"/>
            <a:ext cx="17595176" cy="2969385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8959" y="12458200"/>
            <a:ext cx="17595176" cy="2969385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783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671" y="2491650"/>
            <a:ext cx="35707856" cy="90457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675" y="11472381"/>
            <a:ext cx="17514313" cy="5622437"/>
          </a:xfrm>
        </p:spPr>
        <p:txBody>
          <a:bodyPr anchor="b"/>
          <a:lstStyle>
            <a:lvl1pPr marL="0" indent="0">
              <a:buNone/>
              <a:defRPr sz="10866" b="1"/>
            </a:lvl1pPr>
            <a:lvl2pPr marL="2070019" indent="0">
              <a:buNone/>
              <a:defRPr sz="9055" b="1"/>
            </a:lvl2pPr>
            <a:lvl3pPr marL="4140037" indent="0">
              <a:buNone/>
              <a:defRPr sz="8150" b="1"/>
            </a:lvl3pPr>
            <a:lvl4pPr marL="6210056" indent="0">
              <a:buNone/>
              <a:defRPr sz="7244" b="1"/>
            </a:lvl4pPr>
            <a:lvl5pPr marL="8280075" indent="0">
              <a:buNone/>
              <a:defRPr sz="7244" b="1"/>
            </a:lvl5pPr>
            <a:lvl6pPr marL="10350094" indent="0">
              <a:buNone/>
              <a:defRPr sz="7244" b="1"/>
            </a:lvl6pPr>
            <a:lvl7pPr marL="12420112" indent="0">
              <a:buNone/>
              <a:defRPr sz="7244" b="1"/>
            </a:lvl7pPr>
            <a:lvl8pPr marL="14490131" indent="0">
              <a:buNone/>
              <a:defRPr sz="7244" b="1"/>
            </a:lvl8pPr>
            <a:lvl9pPr marL="16560150" indent="0">
              <a:buNone/>
              <a:defRPr sz="7244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675" y="17094818"/>
            <a:ext cx="17514313" cy="2514390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8961" y="11472381"/>
            <a:ext cx="17600568" cy="5622437"/>
          </a:xfrm>
        </p:spPr>
        <p:txBody>
          <a:bodyPr anchor="b"/>
          <a:lstStyle>
            <a:lvl1pPr marL="0" indent="0">
              <a:buNone/>
              <a:defRPr sz="10866" b="1"/>
            </a:lvl1pPr>
            <a:lvl2pPr marL="2070019" indent="0">
              <a:buNone/>
              <a:defRPr sz="9055" b="1"/>
            </a:lvl2pPr>
            <a:lvl3pPr marL="4140037" indent="0">
              <a:buNone/>
              <a:defRPr sz="8150" b="1"/>
            </a:lvl3pPr>
            <a:lvl4pPr marL="6210056" indent="0">
              <a:buNone/>
              <a:defRPr sz="7244" b="1"/>
            </a:lvl4pPr>
            <a:lvl5pPr marL="8280075" indent="0">
              <a:buNone/>
              <a:defRPr sz="7244" b="1"/>
            </a:lvl5pPr>
            <a:lvl6pPr marL="10350094" indent="0">
              <a:buNone/>
              <a:defRPr sz="7244" b="1"/>
            </a:lvl6pPr>
            <a:lvl7pPr marL="12420112" indent="0">
              <a:buNone/>
              <a:defRPr sz="7244" b="1"/>
            </a:lvl7pPr>
            <a:lvl8pPr marL="14490131" indent="0">
              <a:buNone/>
              <a:defRPr sz="7244" b="1"/>
            </a:lvl8pPr>
            <a:lvl9pPr marL="16560150" indent="0">
              <a:buNone/>
              <a:defRPr sz="7244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8961" y="17094818"/>
            <a:ext cx="17600568" cy="2514390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7325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7599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356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671" y="3119967"/>
            <a:ext cx="13352711" cy="10919883"/>
          </a:xfrm>
        </p:spPr>
        <p:txBody>
          <a:bodyPr anchor="b"/>
          <a:lstStyle>
            <a:lvl1pPr>
              <a:defRPr sz="144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0568" y="6738272"/>
            <a:ext cx="20958959" cy="33257978"/>
          </a:xfrm>
        </p:spPr>
        <p:txBody>
          <a:bodyPr/>
          <a:lstStyle>
            <a:lvl1pPr>
              <a:defRPr sz="14488"/>
            </a:lvl1pPr>
            <a:lvl2pPr>
              <a:defRPr sz="12677"/>
            </a:lvl2pPr>
            <a:lvl3pPr>
              <a:defRPr sz="10866"/>
            </a:lvl3pPr>
            <a:lvl4pPr>
              <a:defRPr sz="9055"/>
            </a:lvl4pPr>
            <a:lvl5pPr>
              <a:defRPr sz="9055"/>
            </a:lvl5pPr>
            <a:lvl6pPr>
              <a:defRPr sz="9055"/>
            </a:lvl6pPr>
            <a:lvl7pPr>
              <a:defRPr sz="9055"/>
            </a:lvl7pPr>
            <a:lvl8pPr>
              <a:defRPr sz="9055"/>
            </a:lvl8pPr>
            <a:lvl9pPr>
              <a:defRPr sz="905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671" y="14039850"/>
            <a:ext cx="13352711" cy="26010559"/>
          </a:xfrm>
        </p:spPr>
        <p:txBody>
          <a:bodyPr/>
          <a:lstStyle>
            <a:lvl1pPr marL="0" indent="0">
              <a:buNone/>
              <a:defRPr sz="7244"/>
            </a:lvl1pPr>
            <a:lvl2pPr marL="2070019" indent="0">
              <a:buNone/>
              <a:defRPr sz="6339"/>
            </a:lvl2pPr>
            <a:lvl3pPr marL="4140037" indent="0">
              <a:buNone/>
              <a:defRPr sz="5433"/>
            </a:lvl3pPr>
            <a:lvl4pPr marL="6210056" indent="0">
              <a:buNone/>
              <a:defRPr sz="4528"/>
            </a:lvl4pPr>
            <a:lvl5pPr marL="8280075" indent="0">
              <a:buNone/>
              <a:defRPr sz="4528"/>
            </a:lvl5pPr>
            <a:lvl6pPr marL="10350094" indent="0">
              <a:buNone/>
              <a:defRPr sz="4528"/>
            </a:lvl6pPr>
            <a:lvl7pPr marL="12420112" indent="0">
              <a:buNone/>
              <a:defRPr sz="4528"/>
            </a:lvl7pPr>
            <a:lvl8pPr marL="14490131" indent="0">
              <a:buNone/>
              <a:defRPr sz="4528"/>
            </a:lvl8pPr>
            <a:lvl9pPr marL="16560150" indent="0">
              <a:buNone/>
              <a:defRPr sz="4528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6864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671" y="3119967"/>
            <a:ext cx="13352711" cy="10919883"/>
          </a:xfrm>
        </p:spPr>
        <p:txBody>
          <a:bodyPr anchor="b"/>
          <a:lstStyle>
            <a:lvl1pPr>
              <a:defRPr sz="144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0568" y="6738272"/>
            <a:ext cx="20958959" cy="33257978"/>
          </a:xfrm>
        </p:spPr>
        <p:txBody>
          <a:bodyPr anchor="t"/>
          <a:lstStyle>
            <a:lvl1pPr marL="0" indent="0">
              <a:buNone/>
              <a:defRPr sz="14488"/>
            </a:lvl1pPr>
            <a:lvl2pPr marL="2070019" indent="0">
              <a:buNone/>
              <a:defRPr sz="12677"/>
            </a:lvl2pPr>
            <a:lvl3pPr marL="4140037" indent="0">
              <a:buNone/>
              <a:defRPr sz="10866"/>
            </a:lvl3pPr>
            <a:lvl4pPr marL="6210056" indent="0">
              <a:buNone/>
              <a:defRPr sz="9055"/>
            </a:lvl4pPr>
            <a:lvl5pPr marL="8280075" indent="0">
              <a:buNone/>
              <a:defRPr sz="9055"/>
            </a:lvl5pPr>
            <a:lvl6pPr marL="10350094" indent="0">
              <a:buNone/>
              <a:defRPr sz="9055"/>
            </a:lvl6pPr>
            <a:lvl7pPr marL="12420112" indent="0">
              <a:buNone/>
              <a:defRPr sz="9055"/>
            </a:lvl7pPr>
            <a:lvl8pPr marL="14490131" indent="0">
              <a:buNone/>
              <a:defRPr sz="9055"/>
            </a:lvl8pPr>
            <a:lvl9pPr marL="16560150" indent="0">
              <a:buNone/>
              <a:defRPr sz="905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671" y="14039850"/>
            <a:ext cx="13352711" cy="26010559"/>
          </a:xfrm>
        </p:spPr>
        <p:txBody>
          <a:bodyPr/>
          <a:lstStyle>
            <a:lvl1pPr marL="0" indent="0">
              <a:buNone/>
              <a:defRPr sz="7244"/>
            </a:lvl1pPr>
            <a:lvl2pPr marL="2070019" indent="0">
              <a:buNone/>
              <a:defRPr sz="6339"/>
            </a:lvl2pPr>
            <a:lvl3pPr marL="4140037" indent="0">
              <a:buNone/>
              <a:defRPr sz="5433"/>
            </a:lvl3pPr>
            <a:lvl4pPr marL="6210056" indent="0">
              <a:buNone/>
              <a:defRPr sz="4528"/>
            </a:lvl4pPr>
            <a:lvl5pPr marL="8280075" indent="0">
              <a:buNone/>
              <a:defRPr sz="4528"/>
            </a:lvl5pPr>
            <a:lvl6pPr marL="10350094" indent="0">
              <a:buNone/>
              <a:defRPr sz="4528"/>
            </a:lvl6pPr>
            <a:lvl7pPr marL="12420112" indent="0">
              <a:buNone/>
              <a:defRPr sz="4528"/>
            </a:lvl7pPr>
            <a:lvl8pPr marL="14490131" indent="0">
              <a:buNone/>
              <a:defRPr sz="4528"/>
            </a:lvl8pPr>
            <a:lvl9pPr marL="16560150" indent="0">
              <a:buNone/>
              <a:defRPr sz="4528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465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5962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7173" y="2491640"/>
            <a:ext cx="8926964" cy="396604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281" y="2491640"/>
            <a:ext cx="26263387" cy="396604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0A1-66C5-1447-B04B-BFECB3EA9138}" type="datetimeFigureOut">
              <a:rPr kumimoji="1" lang="ko-Kore-KR" altLang="en-US" smtClean="0"/>
              <a:t>10/01/2025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ECDC-3136-1148-95F3-A05F2866EB7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487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279" y="2491650"/>
            <a:ext cx="35707856" cy="9045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279" y="12458200"/>
            <a:ext cx="35707856" cy="29693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278" y="43376214"/>
            <a:ext cx="9315093" cy="2491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3887" y="43376214"/>
            <a:ext cx="13972639" cy="2491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39042" y="43376214"/>
            <a:ext cx="9315093" cy="2491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24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140037" rtl="0" eaLnBrk="1" latinLnBrk="1" hangingPunct="1">
        <a:lnSpc>
          <a:spcPct val="90000"/>
        </a:lnSpc>
        <a:spcBef>
          <a:spcPct val="0"/>
        </a:spcBef>
        <a:buNone/>
        <a:defRPr sz="199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009" indent="-1035009" algn="l" defTabSz="4140037" rtl="0" eaLnBrk="1" latinLnBrk="1" hangingPunct="1">
        <a:lnSpc>
          <a:spcPct val="90000"/>
        </a:lnSpc>
        <a:spcBef>
          <a:spcPts val="4528"/>
        </a:spcBef>
        <a:buFont typeface="Arial" panose="020B0604020202020204" pitchFamily="34" charset="0"/>
        <a:buChar char="•"/>
        <a:defRPr sz="12677" kern="1200">
          <a:solidFill>
            <a:schemeClr val="tx1"/>
          </a:solidFill>
          <a:latin typeface="+mn-lt"/>
          <a:ea typeface="+mn-ea"/>
          <a:cs typeface="+mn-cs"/>
        </a:defRPr>
      </a:lvl1pPr>
      <a:lvl2pPr marL="3105028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10866" kern="1200">
          <a:solidFill>
            <a:schemeClr val="tx1"/>
          </a:solidFill>
          <a:latin typeface="+mn-lt"/>
          <a:ea typeface="+mn-ea"/>
          <a:cs typeface="+mn-cs"/>
        </a:defRPr>
      </a:lvl2pPr>
      <a:lvl3pPr marL="5175047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9055" kern="1200">
          <a:solidFill>
            <a:schemeClr val="tx1"/>
          </a:solidFill>
          <a:latin typeface="+mn-lt"/>
          <a:ea typeface="+mn-ea"/>
          <a:cs typeface="+mn-cs"/>
        </a:defRPr>
      </a:lvl3pPr>
      <a:lvl4pPr marL="7245066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8150" kern="1200">
          <a:solidFill>
            <a:schemeClr val="tx1"/>
          </a:solidFill>
          <a:latin typeface="+mn-lt"/>
          <a:ea typeface="+mn-ea"/>
          <a:cs typeface="+mn-cs"/>
        </a:defRPr>
      </a:lvl4pPr>
      <a:lvl5pPr marL="9315084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8150" kern="1200">
          <a:solidFill>
            <a:schemeClr val="tx1"/>
          </a:solidFill>
          <a:latin typeface="+mn-lt"/>
          <a:ea typeface="+mn-ea"/>
          <a:cs typeface="+mn-cs"/>
        </a:defRPr>
      </a:lvl5pPr>
      <a:lvl6pPr marL="11385103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8150" kern="1200">
          <a:solidFill>
            <a:schemeClr val="tx1"/>
          </a:solidFill>
          <a:latin typeface="+mn-lt"/>
          <a:ea typeface="+mn-ea"/>
          <a:cs typeface="+mn-cs"/>
        </a:defRPr>
      </a:lvl6pPr>
      <a:lvl7pPr marL="13455122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8150" kern="1200">
          <a:solidFill>
            <a:schemeClr val="tx1"/>
          </a:solidFill>
          <a:latin typeface="+mn-lt"/>
          <a:ea typeface="+mn-ea"/>
          <a:cs typeface="+mn-cs"/>
        </a:defRPr>
      </a:lvl7pPr>
      <a:lvl8pPr marL="15525140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8150" kern="1200">
          <a:solidFill>
            <a:schemeClr val="tx1"/>
          </a:solidFill>
          <a:latin typeface="+mn-lt"/>
          <a:ea typeface="+mn-ea"/>
          <a:cs typeface="+mn-cs"/>
        </a:defRPr>
      </a:lvl8pPr>
      <a:lvl9pPr marL="17595159" indent="-1035009" algn="l" defTabSz="4140037" rtl="0" eaLnBrk="1" latinLnBrk="1" hangingPunct="1">
        <a:lnSpc>
          <a:spcPct val="90000"/>
        </a:lnSpc>
        <a:spcBef>
          <a:spcPts val="2264"/>
        </a:spcBef>
        <a:buFont typeface="Arial" panose="020B0604020202020204" pitchFamily="34" charset="0"/>
        <a:buChar char="•"/>
        <a:defRPr sz="81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1pPr>
      <a:lvl2pPr marL="2070019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2pPr>
      <a:lvl3pPr marL="4140037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3pPr>
      <a:lvl4pPr marL="6210056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75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5pPr>
      <a:lvl6pPr marL="10350094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6pPr>
      <a:lvl7pPr marL="12420112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7pPr>
      <a:lvl8pPr marL="14490131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8pPr>
      <a:lvl9pPr marL="16560150" algn="l" defTabSz="4140037" rtl="0" eaLnBrk="1" latinLnBrk="1" hangingPunct="1">
        <a:defRPr sz="81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ADB9978-6AFC-78A7-DD7B-E11347BAF25B}"/>
              </a:ext>
            </a:extLst>
          </p:cNvPr>
          <p:cNvSpPr txBox="1"/>
          <p:nvPr/>
        </p:nvSpPr>
        <p:spPr>
          <a:xfrm>
            <a:off x="1706880" y="52586"/>
            <a:ext cx="23572352" cy="957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0826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Transparent LED Film</a:t>
            </a:r>
            <a:endParaRPr kumimoji="1" lang="ko-Kore-KR" altLang="en-US" sz="30826" b="1" dirty="0">
              <a:solidFill>
                <a:schemeClr val="accent4">
                  <a:lumMod val="60000"/>
                  <a:lumOff val="40000"/>
                </a:schemeClr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2C2D7-F28B-613B-3673-5E3BE7D18DDF}"/>
              </a:ext>
            </a:extLst>
          </p:cNvPr>
          <p:cNvSpPr txBox="1"/>
          <p:nvPr/>
        </p:nvSpPr>
        <p:spPr>
          <a:xfrm>
            <a:off x="1706880" y="11286447"/>
            <a:ext cx="18121511" cy="169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433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투명전극을 이용한 투명 </a:t>
            </a:r>
            <a:r>
              <a:rPr kumimoji="1" lang="en-US" altLang="ko-Kore-KR" sz="10433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</a:t>
            </a:r>
            <a:r>
              <a:rPr kumimoji="1" lang="ko-KR" altLang="en-US" sz="10433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</a:t>
            </a:r>
            <a:endParaRPr kumimoji="1" lang="ko-Kore-KR" altLang="en-US" sz="10433" b="1" dirty="0">
              <a:solidFill>
                <a:schemeClr val="accent4">
                  <a:lumMod val="60000"/>
                  <a:lumOff val="4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DF236-CBF6-DE3E-9E68-B0BCED2A9AEC}"/>
              </a:ext>
            </a:extLst>
          </p:cNvPr>
          <p:cNvSpPr txBox="1"/>
          <p:nvPr/>
        </p:nvSpPr>
        <p:spPr>
          <a:xfrm>
            <a:off x="1706880" y="14195709"/>
            <a:ext cx="17197623" cy="3566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5217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유리는 현대 건축의 핵심 요소로서 다양한 곳에 사용되고 있다</a:t>
            </a:r>
            <a:r>
              <a:rPr kumimoji="1" lang="en-US" altLang="ko-KR" sz="5217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5217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이와 더불어 다양한 디자인</a:t>
            </a:r>
            <a:r>
              <a:rPr kumimoji="1" lang="en-US" altLang="ko-KR" sz="5217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5217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등을 바탕으로 독창적인 건축물을 만들어내려는 다양한 시도가 이루어지고 있다</a:t>
            </a:r>
            <a:r>
              <a:rPr kumimoji="1" lang="en-US" altLang="ko-KR" sz="5217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ore-KR" altLang="en-US" sz="5217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21505B-6DF0-DD0E-41FD-89538912C12B}"/>
              </a:ext>
            </a:extLst>
          </p:cNvPr>
          <p:cNvSpPr txBox="1"/>
          <p:nvPr/>
        </p:nvSpPr>
        <p:spPr>
          <a:xfrm>
            <a:off x="2016772" y="31128436"/>
            <a:ext cx="173325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Comparison with Other Service</a:t>
            </a:r>
            <a:endParaRPr kumimoji="1" lang="ko-Kore-KR" altLang="en-US" sz="6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0025F6-848D-0655-A070-433177FBFA64}"/>
              </a:ext>
            </a:extLst>
          </p:cNvPr>
          <p:cNvSpPr txBox="1"/>
          <p:nvPr/>
        </p:nvSpPr>
        <p:spPr>
          <a:xfrm>
            <a:off x="2016774" y="32454850"/>
            <a:ext cx="18121511" cy="13534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스마트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Glass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경우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1㎡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약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700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만원에 달하는 비용과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 설치를 위한 대규모 시공이 필요하며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보수가 거의 불가능하다는 단점이 있다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AXIS Light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Transparent LED Film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주로 사용되는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ITO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아닌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Silver Nano Wire</a:t>
            </a:r>
            <a:r>
              <a:rPr kumimoji="1" lang="ko-KR" altLang="en-US" sz="391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필름에 적용하여 휠 수 있고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 원가가 저렴하며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자체 설계를 통해 내구성이 뛰어난 차별성을 지닌다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스마트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Glass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경우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1㎡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약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700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만원에 달하는 비용과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 설치를 위한 대규모 시공이 필요하며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보수가 거의 불가능하다는 단점이 있다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AXIS Light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Transparent LED Film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주로 사용되는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ITO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아닌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Silver Nano Wire</a:t>
            </a:r>
            <a:r>
              <a:rPr kumimoji="1" lang="ko-KR" altLang="en-US" sz="391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필름에 적용하여 휠 수 있고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 원가가 저렴하며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자체 설계를 통해 내구성이 뛰어난 차별성을 지닌다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스마트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Glass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경우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1㎡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약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700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만원에 달하는 비용과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 설치를 위한 대규모 시공이 필요하며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보수가 거의 불가능하다는 단점이 있다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AXIS Light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Transparent LED Film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주로 사용되는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ITO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아닌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Silver Nano Wire</a:t>
            </a:r>
            <a:r>
              <a:rPr kumimoji="1" lang="ko-KR" altLang="en-US" sz="391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필름에 적용하여 휠 수 있고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 원가가 저렴하며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자체 설계를 통해 내구성이 뛰어난 차별성을 지닌다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스마트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Glass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경우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1㎡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약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700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만원에 달하는 비용과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 설치를 위한 대규모 시공이 필요하며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보수가 거의 불가능하다는 단점이 있다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kumimoji="1" lang="ko-Kore-KR" altLang="en-US" sz="3912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8B4439-DEED-8C97-267D-B49641E1A619}"/>
              </a:ext>
            </a:extLst>
          </p:cNvPr>
          <p:cNvSpPr txBox="1"/>
          <p:nvPr/>
        </p:nvSpPr>
        <p:spPr>
          <a:xfrm>
            <a:off x="1949537" y="19126917"/>
            <a:ext cx="16712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Technical Specifications</a:t>
            </a:r>
            <a:endParaRPr kumimoji="1" lang="ko-Kore-KR" altLang="en-US" sz="6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2CC6DF-A643-EFF4-B8AC-7501A7DE0BE0}"/>
              </a:ext>
            </a:extLst>
          </p:cNvPr>
          <p:cNvSpPr txBox="1"/>
          <p:nvPr/>
        </p:nvSpPr>
        <p:spPr>
          <a:xfrm>
            <a:off x="2016772" y="20475769"/>
            <a:ext cx="17332564" cy="981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투과율 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84%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이상의 투명성</a:t>
            </a:r>
          </a:p>
          <a:p>
            <a:pPr>
              <a:lnSpc>
                <a:spcPct val="150000"/>
              </a:lnSpc>
            </a:pP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Silver Nano Wire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기반의 투명 전극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전극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접착 물질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코팅 물질의 최적 조합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형상에의 적용을 위한 </a:t>
            </a:r>
            <a:r>
              <a:rPr kumimoji="1" lang="ko-KR" altLang="en-US" sz="474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휨성</a:t>
            </a:r>
            <a:endParaRPr kumimoji="1" lang="ko-KR" altLang="en-US" sz="4742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en-US" altLang="ko-KR" sz="474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PolyCarbonate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필름을 사용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Silver Nano Wire</a:t>
            </a:r>
            <a:r>
              <a:rPr kumimoji="1" lang="ko-KR" altLang="en-US" sz="474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사용하여 </a:t>
            </a:r>
            <a:r>
              <a:rPr kumimoji="1" lang="ko-KR" altLang="en-US" sz="474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휨성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획득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외부의 충격에 영향을 받지 않는 내구성</a:t>
            </a:r>
          </a:p>
          <a:p>
            <a:pPr>
              <a:lnSpc>
                <a:spcPct val="150000"/>
              </a:lnSpc>
            </a:pP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LED</a:t>
            </a:r>
            <a:r>
              <a:rPr kumimoji="1" lang="ko-KR" altLang="en-US" sz="474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제품 내부에 삽입하고 외관을 코팅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LED</a:t>
            </a:r>
            <a:r>
              <a:rPr kumimoji="1" lang="ko-KR" altLang="en-US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탈락 현상이 발생하지 않음</a:t>
            </a:r>
            <a:r>
              <a:rPr kumimoji="1" lang="en-US" altLang="ko-KR" sz="474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ore-KR" altLang="en-US" sz="4742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0" name="직선 연결선[R] 49">
            <a:extLst>
              <a:ext uri="{FF2B5EF4-FFF2-40B4-BE49-F238E27FC236}">
                <a16:creationId xmlns:a16="http://schemas.microsoft.com/office/drawing/2014/main" id="{54538580-3DC9-B2FA-576A-334B0E5C841E}"/>
              </a:ext>
            </a:extLst>
          </p:cNvPr>
          <p:cNvCxnSpPr/>
          <p:nvPr/>
        </p:nvCxnSpPr>
        <p:spPr>
          <a:xfrm flipV="1">
            <a:off x="-13754176" y="12834696"/>
            <a:ext cx="0" cy="184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6530D8C-2E13-CC2B-F597-9512DF0252DE}"/>
              </a:ext>
            </a:extLst>
          </p:cNvPr>
          <p:cNvSpPr/>
          <p:nvPr/>
        </p:nvSpPr>
        <p:spPr>
          <a:xfrm>
            <a:off x="1706880" y="10324755"/>
            <a:ext cx="17632199" cy="1067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8469149-A2E0-2FEC-EDA0-672DB17A3276}"/>
              </a:ext>
            </a:extLst>
          </p:cNvPr>
          <p:cNvSpPr/>
          <p:nvPr/>
        </p:nvSpPr>
        <p:spPr>
          <a:xfrm>
            <a:off x="1489591" y="18918162"/>
            <a:ext cx="17632199" cy="1067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9D8098-8C9E-2F16-6FDE-E116CF624A1E}"/>
              </a:ext>
            </a:extLst>
          </p:cNvPr>
          <p:cNvSpPr/>
          <p:nvPr/>
        </p:nvSpPr>
        <p:spPr>
          <a:xfrm>
            <a:off x="23043162" y="12982804"/>
            <a:ext cx="14999464" cy="10576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EB23F-1794-2953-623F-9A37CDFC3D78}"/>
              </a:ext>
            </a:extLst>
          </p:cNvPr>
          <p:cNvSpPr txBox="1"/>
          <p:nvPr/>
        </p:nvSpPr>
        <p:spPr>
          <a:xfrm>
            <a:off x="26170400" y="17707297"/>
            <a:ext cx="8627759" cy="2099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3043" b="1" dirty="0" err="1">
                <a:solidFill>
                  <a:schemeClr val="accent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작품이미지</a:t>
            </a:r>
            <a:endParaRPr kumimoji="1" lang="ko-Kore-KR" altLang="en-US" sz="13043" b="1" dirty="0">
              <a:solidFill>
                <a:schemeClr val="accent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B19A27-E20A-E87D-1051-3BC61C0B038F}"/>
              </a:ext>
            </a:extLst>
          </p:cNvPr>
          <p:cNvSpPr/>
          <p:nvPr/>
        </p:nvSpPr>
        <p:spPr>
          <a:xfrm>
            <a:off x="23043162" y="23627600"/>
            <a:ext cx="14999464" cy="10576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29416-7D34-DC29-040A-5F920205CAC1}"/>
              </a:ext>
            </a:extLst>
          </p:cNvPr>
          <p:cNvSpPr txBox="1"/>
          <p:nvPr/>
        </p:nvSpPr>
        <p:spPr>
          <a:xfrm>
            <a:off x="26170400" y="28201054"/>
            <a:ext cx="8627759" cy="2099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3043" b="1" dirty="0" err="1">
                <a:solidFill>
                  <a:schemeClr val="accent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작품이미지</a:t>
            </a:r>
            <a:endParaRPr kumimoji="1" lang="ko-Kore-KR" altLang="en-US" sz="13043" b="1" dirty="0">
              <a:solidFill>
                <a:schemeClr val="accent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7B2C92-4EBA-7845-964A-B21F36131541}"/>
              </a:ext>
            </a:extLst>
          </p:cNvPr>
          <p:cNvSpPr/>
          <p:nvPr/>
        </p:nvSpPr>
        <p:spPr>
          <a:xfrm>
            <a:off x="23043162" y="34342585"/>
            <a:ext cx="14999464" cy="10576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0E4D2-A6A6-00CE-3A49-F7E94D5504C9}"/>
              </a:ext>
            </a:extLst>
          </p:cNvPr>
          <p:cNvSpPr txBox="1"/>
          <p:nvPr/>
        </p:nvSpPr>
        <p:spPr>
          <a:xfrm>
            <a:off x="26170400" y="38436499"/>
            <a:ext cx="8627759" cy="2099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3043" b="1" dirty="0" err="1">
                <a:solidFill>
                  <a:schemeClr val="accent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작품이미지</a:t>
            </a:r>
            <a:endParaRPr kumimoji="1" lang="ko-Kore-KR" altLang="en-US" sz="13043" b="1" dirty="0">
              <a:solidFill>
                <a:schemeClr val="accent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AFB682-B757-4F49-88E4-57A2F54E60F7}"/>
              </a:ext>
            </a:extLst>
          </p:cNvPr>
          <p:cNvSpPr txBox="1"/>
          <p:nvPr/>
        </p:nvSpPr>
        <p:spPr>
          <a:xfrm>
            <a:off x="23043162" y="7997417"/>
            <a:ext cx="8828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6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Group Name</a:t>
            </a:r>
            <a:endParaRPr kumimoji="1" lang="ko-Kore-KR" altLang="en-US" sz="66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ECD52F-81EC-431B-BBED-AF018C65890E}"/>
              </a:ext>
            </a:extLst>
          </p:cNvPr>
          <p:cNvSpPr txBox="1"/>
          <p:nvPr/>
        </p:nvSpPr>
        <p:spPr>
          <a:xfrm>
            <a:off x="23043161" y="9019111"/>
            <a:ext cx="2500853" cy="18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  과  명</a:t>
            </a:r>
          </a:p>
          <a:p>
            <a:pPr>
              <a:lnSpc>
                <a:spcPct val="150000"/>
              </a:lnSpc>
            </a:pP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구성원</a:t>
            </a:r>
            <a:endParaRPr kumimoji="1" lang="ko-Kore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FDCD99-6B76-41A2-895C-9F52D05C256F}"/>
              </a:ext>
            </a:extLst>
          </p:cNvPr>
          <p:cNvSpPr txBox="1"/>
          <p:nvPr/>
        </p:nvSpPr>
        <p:spPr>
          <a:xfrm>
            <a:off x="25740720" y="9019112"/>
            <a:ext cx="5934520" cy="18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0000</a:t>
            </a: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공학부</a:t>
            </a:r>
            <a:endParaRPr kumimoji="1" lang="en-US" altLang="ko-KR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</a:t>
            </a: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000</a:t>
            </a:r>
            <a:endParaRPr kumimoji="1" lang="ko-Kore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DA34AC-4B2B-4BEE-A995-DE9E8B3E8727}"/>
              </a:ext>
            </a:extLst>
          </p:cNvPr>
          <p:cNvSpPr txBox="1"/>
          <p:nvPr/>
        </p:nvSpPr>
        <p:spPr>
          <a:xfrm>
            <a:off x="34410505" y="887766"/>
            <a:ext cx="7264241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2300" b="1" dirty="0">
                <a:highlight>
                  <a:srgbClr val="FFFF00"/>
                </a:highligh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(Type A)</a:t>
            </a:r>
            <a:endParaRPr kumimoji="1" lang="ko-Kore-KR" altLang="en-US" sz="12300" b="1" dirty="0">
              <a:highlight>
                <a:srgbClr val="FFFF00"/>
              </a:highlight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924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ADB9978-6AFC-78A7-DD7B-E11347BAF25B}"/>
              </a:ext>
            </a:extLst>
          </p:cNvPr>
          <p:cNvSpPr txBox="1"/>
          <p:nvPr/>
        </p:nvSpPr>
        <p:spPr>
          <a:xfrm>
            <a:off x="3215186" y="1055065"/>
            <a:ext cx="23572352" cy="8120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6083" b="1" dirty="0">
                <a:solidFill>
                  <a:schemeClr val="bg1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Transparent LED Film</a:t>
            </a:r>
            <a:endParaRPr kumimoji="1" lang="ko-Kore-KR" altLang="en-US" sz="26083" b="1" dirty="0">
              <a:solidFill>
                <a:schemeClr val="bg1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2C2D7-F28B-613B-3673-5E3BE7D18DDF}"/>
              </a:ext>
            </a:extLst>
          </p:cNvPr>
          <p:cNvSpPr txBox="1"/>
          <p:nvPr/>
        </p:nvSpPr>
        <p:spPr>
          <a:xfrm>
            <a:off x="4836015" y="10960733"/>
            <a:ext cx="2529316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9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투명전극을 이용한 투명 </a:t>
            </a:r>
            <a:r>
              <a:rPr kumimoji="1" lang="en-US" altLang="ko-Kore-KR" sz="119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</a:t>
            </a:r>
            <a:r>
              <a:rPr kumimoji="1" lang="ko-KR" altLang="en-US" sz="119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</a:t>
            </a:r>
            <a:endParaRPr kumimoji="1" lang="ko-Kore-KR" altLang="en-US" sz="119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DF236-CBF6-DE3E-9E68-B0BCED2A9AEC}"/>
              </a:ext>
            </a:extLst>
          </p:cNvPr>
          <p:cNvSpPr txBox="1"/>
          <p:nvPr/>
        </p:nvSpPr>
        <p:spPr>
          <a:xfrm>
            <a:off x="4836016" y="13864401"/>
            <a:ext cx="32444494" cy="5195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유리는 현대 건축의 핵심 요소로서 다양한 곳에 사용되고 있다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이와 더불어 다양한 디자인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등을 바탕으로 독창적인 건축물을 만들어내려는 다양한 시도가 이루어지고 있다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이에 투명한 스마트 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유리는 전 세계적으로 주목을 받고 있다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AXIS Light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위 제품에 존재하는 문제점들을 파악하였고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이를 해결할 수 있는 수단으로 투명 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</a:t>
            </a:r>
            <a:r>
              <a:rPr kumimoji="1" lang="ko-KR" altLang="en-US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필름을 개발하였다</a:t>
            </a:r>
            <a:r>
              <a:rPr kumimoji="1" lang="en-US" altLang="ko-KR" sz="5691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ore-KR" altLang="en-US" sz="5691" b="1" dirty="0">
              <a:solidFill>
                <a:schemeClr val="accent4">
                  <a:lumMod val="60000"/>
                  <a:lumOff val="4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465203-A4CE-48F2-4443-114F9D6FA29A}"/>
              </a:ext>
            </a:extLst>
          </p:cNvPr>
          <p:cNvSpPr txBox="1"/>
          <p:nvPr/>
        </p:nvSpPr>
        <p:spPr>
          <a:xfrm>
            <a:off x="30129176" y="5297935"/>
            <a:ext cx="8828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6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Group Name</a:t>
            </a:r>
            <a:endParaRPr kumimoji="1" lang="ko-Kore-KR" altLang="en-US" sz="66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4E4721-ED45-C233-8EEC-24A44789E402}"/>
              </a:ext>
            </a:extLst>
          </p:cNvPr>
          <p:cNvSpPr txBox="1"/>
          <p:nvPr/>
        </p:nvSpPr>
        <p:spPr>
          <a:xfrm>
            <a:off x="30129175" y="6319629"/>
            <a:ext cx="2500853" cy="18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  과  명</a:t>
            </a:r>
          </a:p>
          <a:p>
            <a:pPr>
              <a:lnSpc>
                <a:spcPct val="150000"/>
              </a:lnSpc>
            </a:pP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구성원</a:t>
            </a:r>
            <a:endParaRPr kumimoji="1" lang="ko-Kore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A8BE59-17CA-D427-C178-3F799DFE59B8}"/>
              </a:ext>
            </a:extLst>
          </p:cNvPr>
          <p:cNvSpPr txBox="1"/>
          <p:nvPr/>
        </p:nvSpPr>
        <p:spPr>
          <a:xfrm>
            <a:off x="32826734" y="6319630"/>
            <a:ext cx="5934520" cy="18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0000</a:t>
            </a: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공학부</a:t>
            </a:r>
            <a:endParaRPr kumimoji="1" lang="en-US" altLang="ko-KR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</a:t>
            </a:r>
            <a:r>
              <a:rPr kumimoji="1" lang="ko-KR" altLang="en-US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000</a:t>
            </a:r>
            <a:endParaRPr kumimoji="1" lang="ko-Kore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21505B-6DF0-DD0E-41FD-89538912C12B}"/>
              </a:ext>
            </a:extLst>
          </p:cNvPr>
          <p:cNvSpPr txBox="1"/>
          <p:nvPr/>
        </p:nvSpPr>
        <p:spPr>
          <a:xfrm>
            <a:off x="21614113" y="32927068"/>
            <a:ext cx="15056968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5929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Comparison with Other Service</a:t>
            </a:r>
            <a:endParaRPr kumimoji="1" lang="ko-Kore-KR" altLang="en-US" sz="5929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0025F6-848D-0655-A070-433177FBFA64}"/>
              </a:ext>
            </a:extLst>
          </p:cNvPr>
          <p:cNvSpPr txBox="1"/>
          <p:nvPr/>
        </p:nvSpPr>
        <p:spPr>
          <a:xfrm>
            <a:off x="21614114" y="34316478"/>
            <a:ext cx="15198032" cy="450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스마트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Glass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경우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1㎡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약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700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만원에 달하는 비용과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유리 설치를 위한 대규모 시공이 필요하며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보수가 거의 불가능하다는 단점이 있다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AXIS Light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Transparent LED Film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주로 사용되는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ITO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아닌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Silver Nano Wire</a:t>
            </a:r>
            <a:r>
              <a:rPr kumimoji="1" lang="ko-KR" altLang="en-US" sz="391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필름에 적용하여 휠 수 있고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 원가가 저렴하며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자체 설계를 통해 내구성이 뛰어난 차별성을 지닌다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ore-KR" altLang="en-US" sz="3912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8B4439-DEED-8C97-267D-B49641E1A619}"/>
              </a:ext>
            </a:extLst>
          </p:cNvPr>
          <p:cNvSpPr txBox="1"/>
          <p:nvPr/>
        </p:nvSpPr>
        <p:spPr>
          <a:xfrm>
            <a:off x="5177449" y="32927068"/>
            <a:ext cx="14518145" cy="107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402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Technical Specifications</a:t>
            </a:r>
            <a:endParaRPr kumimoji="1" lang="ko-Kore-KR" altLang="en-US" sz="6402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2CC6DF-A643-EFF4-B8AC-7501A7DE0BE0}"/>
              </a:ext>
            </a:extLst>
          </p:cNvPr>
          <p:cNvSpPr txBox="1"/>
          <p:nvPr/>
        </p:nvSpPr>
        <p:spPr>
          <a:xfrm>
            <a:off x="5177447" y="34316476"/>
            <a:ext cx="15629441" cy="524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투과율 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84%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이상의 투명성</a:t>
            </a:r>
          </a:p>
          <a:p>
            <a:pPr>
              <a:lnSpc>
                <a:spcPct val="150000"/>
              </a:lnSpc>
            </a:pP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Silver Nano Wire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기반의 투명 전극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전극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접착 물질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코팅 물질의 최적 조합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형상에의 적용을 위한 </a:t>
            </a:r>
            <a:r>
              <a:rPr kumimoji="1" lang="ko-KR" altLang="en-US" sz="3794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휨성</a:t>
            </a:r>
            <a:endParaRPr kumimoji="1" lang="ko-KR" altLang="en-US" sz="3794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en-US" altLang="ko-KR" sz="3794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PolyCarbonate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필름을 사용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Silver Nano Wire</a:t>
            </a:r>
            <a:r>
              <a:rPr kumimoji="1" lang="ko-KR" altLang="en-US" sz="3794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사용하여 </a:t>
            </a:r>
            <a:r>
              <a:rPr kumimoji="1" lang="ko-KR" altLang="en-US" sz="3794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휨성</a:t>
            </a:r>
            <a:r>
              <a:rPr kumimoji="1" lang="ko-KR" altLang="en-US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획득</a:t>
            </a:r>
            <a:r>
              <a:rPr kumimoji="1" lang="en-US" altLang="ko-KR" sz="3794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ore-KR" altLang="en-US" sz="3794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0" name="직선 연결선[R] 49">
            <a:extLst>
              <a:ext uri="{FF2B5EF4-FFF2-40B4-BE49-F238E27FC236}">
                <a16:creationId xmlns:a16="http://schemas.microsoft.com/office/drawing/2014/main" id="{54538580-3DC9-B2FA-576A-334B0E5C841E}"/>
              </a:ext>
            </a:extLst>
          </p:cNvPr>
          <p:cNvCxnSpPr/>
          <p:nvPr/>
        </p:nvCxnSpPr>
        <p:spPr>
          <a:xfrm flipV="1">
            <a:off x="-13754176" y="12834696"/>
            <a:ext cx="0" cy="184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651D234-68F7-420C-E914-192A667D60BE}"/>
              </a:ext>
            </a:extLst>
          </p:cNvPr>
          <p:cNvSpPr txBox="1"/>
          <p:nvPr/>
        </p:nvSpPr>
        <p:spPr>
          <a:xfrm>
            <a:off x="21614113" y="39833349"/>
            <a:ext cx="15056968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5929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Team </a:t>
            </a:r>
            <a:r>
              <a:rPr kumimoji="1" lang="en-US" altLang="ko-KR" sz="5929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Serch</a:t>
            </a:r>
            <a:endParaRPr kumimoji="1" lang="ko-Kore-KR" altLang="en-US" sz="5929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BD2441-AF47-D499-796F-334F38125D2E}"/>
              </a:ext>
            </a:extLst>
          </p:cNvPr>
          <p:cNvSpPr txBox="1"/>
          <p:nvPr/>
        </p:nvSpPr>
        <p:spPr>
          <a:xfrm>
            <a:off x="21614114" y="41159763"/>
            <a:ext cx="15198032" cy="450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 세계적으로 디스플레이 유리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</a:t>
            </a:r>
            <a:r>
              <a:rPr kumimoji="1" lang="ko-KR" altLang="en-US" sz="391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사이니지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옥외 광고 시장은 지속적으로 성장세를 보이고 있다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이에 따라 각종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디스플레이의 수요가 증가하고 있으며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특히 투명 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LED 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디스플레이 제품의 수요는 급격하게 증가하고 있는 추세이다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AXIS Light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기존 설치된 유리 위에 사용할 수 있는 특징을 이용해 시장을 </a:t>
            </a:r>
            <a:r>
              <a:rPr kumimoji="1" lang="ko-KR" altLang="en-US" sz="3912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확대해나갈</a:t>
            </a:r>
            <a:r>
              <a:rPr kumimoji="1" lang="ko-KR" altLang="en-US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것이다</a:t>
            </a:r>
            <a:r>
              <a:rPr kumimoji="1" lang="en-US" altLang="ko-KR" sz="3912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ore-KR" altLang="en-US" sz="3912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5C2007-6FC1-2378-4ACE-F5D79619CDA0}"/>
              </a:ext>
            </a:extLst>
          </p:cNvPr>
          <p:cNvSpPr/>
          <p:nvPr/>
        </p:nvSpPr>
        <p:spPr>
          <a:xfrm>
            <a:off x="21272681" y="20219849"/>
            <a:ext cx="16291458" cy="12046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D1F6F-5D4F-9975-67E8-619BDB48F1F6}"/>
              </a:ext>
            </a:extLst>
          </p:cNvPr>
          <p:cNvSpPr txBox="1"/>
          <p:nvPr/>
        </p:nvSpPr>
        <p:spPr>
          <a:xfrm>
            <a:off x="24399918" y="24944341"/>
            <a:ext cx="9370918" cy="2099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3043" b="1" dirty="0" err="1">
                <a:solidFill>
                  <a:schemeClr val="accent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작품이미지</a:t>
            </a:r>
            <a:endParaRPr kumimoji="1" lang="ko-Kore-KR" altLang="en-US" sz="13043" b="1" dirty="0">
              <a:solidFill>
                <a:schemeClr val="accent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D5AC94-5EC0-2BC2-013C-DF9C9EAAF621}"/>
              </a:ext>
            </a:extLst>
          </p:cNvPr>
          <p:cNvSpPr/>
          <p:nvPr/>
        </p:nvSpPr>
        <p:spPr>
          <a:xfrm>
            <a:off x="4830710" y="20219849"/>
            <a:ext cx="16291458" cy="12046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34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5CB16-80B7-7E8D-64F9-8E74B468FEB3}"/>
              </a:ext>
            </a:extLst>
          </p:cNvPr>
          <p:cNvSpPr txBox="1"/>
          <p:nvPr/>
        </p:nvSpPr>
        <p:spPr>
          <a:xfrm>
            <a:off x="7957948" y="24944341"/>
            <a:ext cx="9370918" cy="2099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3043" b="1" dirty="0" err="1">
                <a:solidFill>
                  <a:schemeClr val="accent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작품이미지</a:t>
            </a:r>
            <a:endParaRPr kumimoji="1" lang="ko-Kore-KR" altLang="en-US" sz="13043" b="1" dirty="0">
              <a:solidFill>
                <a:schemeClr val="accent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78365-1ABD-4DE3-9B69-507DA74A5CB8}"/>
              </a:ext>
            </a:extLst>
          </p:cNvPr>
          <p:cNvSpPr txBox="1"/>
          <p:nvPr/>
        </p:nvSpPr>
        <p:spPr>
          <a:xfrm>
            <a:off x="34410505" y="887766"/>
            <a:ext cx="7264241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2300" b="1" dirty="0">
                <a:highlight>
                  <a:srgbClr val="FFFF00"/>
                </a:highligh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(Type B)</a:t>
            </a:r>
            <a:endParaRPr kumimoji="1" lang="ko-Kore-KR" altLang="en-US" sz="12300" b="1" dirty="0">
              <a:highlight>
                <a:srgbClr val="FFFF00"/>
              </a:highlight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86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605</Words>
  <Application>Microsoft Office PowerPoint</Application>
  <PresentationFormat>사용자 지정</PresentationFormat>
  <Paragraphs>47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Pretendard</vt:lpstr>
      <vt:lpstr>Pretendard ExtraBold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윤정미(공학교육혁신센터)</cp:lastModifiedBy>
  <cp:revision>15</cp:revision>
  <dcterms:created xsi:type="dcterms:W3CDTF">2022-09-05T05:30:29Z</dcterms:created>
  <dcterms:modified xsi:type="dcterms:W3CDTF">2025-10-01T01:34:28Z</dcterms:modified>
</cp:coreProperties>
</file>