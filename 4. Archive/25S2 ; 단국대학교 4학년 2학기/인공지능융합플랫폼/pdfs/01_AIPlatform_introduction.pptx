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51" r:id="rId2"/>
    <p:sldId id="476" r:id="rId3"/>
    <p:sldId id="472" r:id="rId4"/>
    <p:sldId id="464" r:id="rId5"/>
    <p:sldId id="474" r:id="rId6"/>
    <p:sldId id="475" r:id="rId7"/>
    <p:sldId id="466" r:id="rId8"/>
    <p:sldId id="481" r:id="rId9"/>
    <p:sldId id="477" r:id="rId10"/>
    <p:sldId id="479" r:id="rId11"/>
    <p:sldId id="480" r:id="rId12"/>
    <p:sldId id="345" r:id="rId13"/>
    <p:sldId id="482" r:id="rId14"/>
    <p:sldId id="468" r:id="rId15"/>
    <p:sldId id="456" r:id="rId16"/>
    <p:sldId id="469" r:id="rId17"/>
    <p:sldId id="408" r:id="rId18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00FF"/>
    <a:srgbClr val="FF66FF"/>
    <a:srgbClr val="FF00FF"/>
    <a:srgbClr val="FF99FF"/>
    <a:srgbClr val="0099FF"/>
    <a:srgbClr val="3366FF"/>
    <a:srgbClr val="000099"/>
    <a:srgbClr val="FF33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9" autoAdjust="0"/>
    <p:restoredTop sz="94660"/>
  </p:normalViewPr>
  <p:slideViewPr>
    <p:cSldViewPr>
      <p:cViewPr varScale="1">
        <p:scale>
          <a:sx n="102" d="100"/>
          <a:sy n="102" d="100"/>
        </p:scale>
        <p:origin x="1278" y="10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B1955-716E-4E2F-9CDB-D214EFE62131}" type="datetimeFigureOut">
              <a:rPr lang="ko-KR" altLang="en-US" smtClean="0"/>
              <a:pPr/>
              <a:t>2025-08-25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CCE07-8B25-4032-905C-0AA9A2B37E8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657C7EE3-069B-46BE-B78B-3775ECA8C6B1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59D1809B-33D0-4110-B41A-2C1B9F1306F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983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D55D8B-8BFB-4BE6-93D6-E1CE051B530F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ko-KR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8D101-1161-4D6C-ACB2-AB3788BC2AAE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607FB-521D-4D3D-B462-A7126A20EF4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D09743-AF4F-4304-9AE5-AC906F68B014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7447E-607C-47E0-B1DB-8C2C74FF4B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9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B3630-CC99-4944-AF49-0AFCB121755B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E3F11-36BD-4774-9E9B-D9FA5EA1339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6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6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383C1-5057-47FC-9827-C62F3DBE2EDB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39043-C440-48F9-B05F-11778C59E2B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5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5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1F54E-B6F6-454C-B0FD-A564083AF7AC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0099E-17CD-46BA-90C5-DB4E52058E3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B354-035F-424C-A3DE-4FEC5D52E3C4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4E9E4-CEC5-4D9E-B323-19FC72AB976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F474E-C1A0-410D-B3E7-E482D7342806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45BC8-B5E8-4C9B-B303-00ACA61B81E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9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5C846-6CBE-485C-907C-E6103A14D681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621BD-74D2-4DFC-806D-216FE1234D9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9FCD4-447F-417A-AAE6-883F50C2E8E7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1A48D6-73A0-4153-AB38-26641373E86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49499-F366-435C-97E2-A397CCAAC5C0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31BDE-D92C-49DC-A479-F68900D56E4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7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47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D3E0C8-9343-4926-875F-BAB202B4D1F2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DFC57-DA3F-4604-83A9-D7A6366190F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8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569649D-10B1-4579-8892-7C4E9E4F9703}" type="datetimeFigureOut">
              <a:rPr lang="ko-KR" altLang="en-US"/>
              <a:pPr>
                <a:defRPr/>
              </a:pPr>
              <a:t>2025-08-25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8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075A1B-5DFA-4E64-8B81-5687C424766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44466" y="142875"/>
            <a:ext cx="9612312" cy="657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128588" y="1268760"/>
            <a:ext cx="977741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69863" y="3284984"/>
            <a:ext cx="973613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" y="0"/>
            <a:ext cx="2000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9705975" y="0"/>
            <a:ext cx="2000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280592" y="3641865"/>
            <a:ext cx="774641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000" b="1" dirty="0">
                <a:latin typeface="+mn-ea"/>
              </a:rPr>
              <a:t>Stop Wishing, Start Doing and Take command of your life </a:t>
            </a:r>
            <a:r>
              <a:rPr lang="en-US" altLang="ko-KR" sz="2000" b="1" dirty="0" smtClean="0">
                <a:latin typeface="+mn-ea"/>
              </a:rPr>
              <a:t>!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1545863" y="1735436"/>
            <a:ext cx="6984135" cy="9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endParaRPr kumimoji="0" lang="en-US" altLang="ko-KR" sz="110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  <a:p>
            <a:pPr algn="ctr"/>
            <a:r>
              <a:rPr kumimoji="0" lang="en-US" altLang="ko-KR" sz="4400" dirty="0" smtClean="0">
                <a:solidFill>
                  <a:srgbClr val="0000FF"/>
                </a:solidFill>
                <a:latin typeface="+mj-ea"/>
                <a:ea typeface="+mj-ea"/>
                <a:cs typeface="Times New Roman" pitchFamily="18" charset="0"/>
              </a:rPr>
              <a:t>AI</a:t>
            </a:r>
            <a:r>
              <a:rPr kumimoji="0" lang="en-US" altLang="ko-KR" sz="4400" dirty="0" smtClean="0">
                <a:latin typeface="+mj-ea"/>
                <a:ea typeface="+mj-ea"/>
                <a:cs typeface="Times New Roman" pitchFamily="18" charset="0"/>
              </a:rPr>
              <a:t> </a:t>
            </a:r>
            <a:r>
              <a:rPr kumimoji="0" lang="en-US" altLang="ko-KR" sz="4400" dirty="0" smtClean="0">
                <a:solidFill>
                  <a:srgbClr val="FF0000"/>
                </a:solidFill>
                <a:latin typeface="+mj-ea"/>
                <a:ea typeface="+mj-ea"/>
                <a:cs typeface="Times New Roman" pitchFamily="18" charset="0"/>
              </a:rPr>
              <a:t>Convergence</a:t>
            </a:r>
            <a:r>
              <a:rPr kumimoji="0" lang="en-US" altLang="ko-KR" sz="4400" dirty="0" smtClean="0">
                <a:latin typeface="+mj-ea"/>
                <a:ea typeface="+mj-ea"/>
                <a:cs typeface="Times New Roman" pitchFamily="18" charset="0"/>
              </a:rPr>
              <a:t> Platform</a:t>
            </a:r>
            <a:r>
              <a:rPr kumimoji="0" lang="ko-KR" altLang="en-US" sz="4400" dirty="0" smtClean="0">
                <a:latin typeface="+mj-ea"/>
                <a:ea typeface="+mj-ea"/>
                <a:cs typeface="Times New Roman" pitchFamily="18" charset="0"/>
              </a:rPr>
              <a:t> </a:t>
            </a:r>
            <a:endParaRPr kumimoji="0" lang="en-US" altLang="ko-KR" sz="4400" dirty="0">
              <a:latin typeface="+mj-ea"/>
              <a:ea typeface="+mj-ea"/>
              <a:cs typeface="Times New Roman" pitchFamily="18" charset="0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883965" y="5559326"/>
            <a:ext cx="4164013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400" dirty="0" err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Jaedong</a:t>
            </a:r>
            <a:r>
              <a:rPr lang="en-US" altLang="ko-KR" sz="2400" dirty="0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 LEE, </a:t>
            </a:r>
            <a:r>
              <a:rPr lang="en-US" altLang="ko-KR" sz="2400" dirty="0" err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Ph.D</a:t>
            </a:r>
            <a:endParaRPr lang="en-US" altLang="ko-KR" sz="24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anose="02030604000101010101" pitchFamily="18" charset="-127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2842582" y="4554677"/>
            <a:ext cx="5119311" cy="8617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000" b="1" dirty="0" smtClean="0">
                <a:latin typeface="Times New Roman" pitchFamily="18" charset="0"/>
                <a:ea typeface="휴먼모음T" pitchFamily="18" charset="-127"/>
                <a:cs typeface="Times New Roman" pitchFamily="18" charset="0"/>
              </a:rPr>
              <a:t>Fall</a:t>
            </a:r>
            <a:r>
              <a:rPr lang="en-US" altLang="ko-KR" sz="2000" b="1" smtClean="0">
                <a:latin typeface="Times New Roman" pitchFamily="18" charset="0"/>
                <a:ea typeface="휴먼모음T" pitchFamily="18" charset="-127"/>
                <a:cs typeface="Times New Roman" pitchFamily="18" charset="0"/>
              </a:rPr>
              <a:t>, </a:t>
            </a:r>
            <a:r>
              <a:rPr lang="en-US" altLang="ko-KR" sz="2000" b="1" smtClean="0">
                <a:latin typeface="Times New Roman" pitchFamily="18" charset="0"/>
                <a:ea typeface="휴먼모음T" pitchFamily="18" charset="-127"/>
                <a:cs typeface="Times New Roman" pitchFamily="18" charset="0"/>
              </a:rPr>
              <a:t>2025</a:t>
            </a:r>
            <a:endParaRPr lang="en-US" altLang="ko-KR" sz="2000" b="1" dirty="0" smtClean="0">
              <a:latin typeface="Times New Roman" pitchFamily="18" charset="0"/>
              <a:ea typeface="휴먼모음T" pitchFamily="18" charset="-127"/>
              <a:cs typeface="Times New Roman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000" b="1" dirty="0" smtClean="0">
                <a:latin typeface="Times New Roman" pitchFamily="18" charset="0"/>
                <a:ea typeface="휴먼모음T" pitchFamily="18" charset="-127"/>
                <a:cs typeface="Times New Roman" pitchFamily="18" charset="0"/>
              </a:rPr>
              <a:t>letsdoit@dankook.ac.kr</a:t>
            </a:r>
            <a:endParaRPr lang="en-US" altLang="ko-KR" sz="2000" b="1" dirty="0">
              <a:latin typeface="Times New Roman" pitchFamily="18" charset="0"/>
              <a:ea typeface="휴먼모음T" pitchFamily="18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0"/>
                            </p:stCondLst>
                            <p:childTnLst>
                              <p:par>
                                <p:cTn id="19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100"/>
                            </p:stCondLst>
                            <p:childTnLst>
                              <p:par>
                                <p:cTn id="25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100"/>
                            </p:stCondLst>
                            <p:childTnLst>
                              <p:par>
                                <p:cTn id="3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/>
        </p:nvCxnSpPr>
        <p:spPr>
          <a:xfrm>
            <a:off x="169863" y="3284984"/>
            <a:ext cx="9736137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" y="0"/>
            <a:ext cx="2000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9705975" y="0"/>
            <a:ext cx="2000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91" y="332656"/>
            <a:ext cx="4122861" cy="525658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560512" y="620688"/>
            <a:ext cx="2160240" cy="504056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015" y="332655"/>
            <a:ext cx="4176465" cy="5256585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cxnSp>
        <p:nvCxnSpPr>
          <p:cNvPr id="7" name="직선 연결선 6"/>
          <p:cNvCxnSpPr/>
          <p:nvPr/>
        </p:nvCxnSpPr>
        <p:spPr>
          <a:xfrm>
            <a:off x="5241032" y="980728"/>
            <a:ext cx="26642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5025008" y="3645024"/>
            <a:ext cx="1872209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과기부, AI·SW 전문 인재 양성 &lt; 정보통신 &lt; IT·바이오 &lt; 기사본문 - 중소기업신문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85" y="2852936"/>
            <a:ext cx="5715000" cy="3708411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49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992" y="2248836"/>
            <a:ext cx="4680520" cy="360618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96" y="908720"/>
            <a:ext cx="4173584" cy="331236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169024" y="2492896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Are you going to build a platform ? Or will you use the platform ?</a:t>
            </a:r>
            <a:endParaRPr lang="ko-KR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253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272480" y="188640"/>
            <a:ext cx="9433048" cy="6480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424608" y="2780928"/>
            <a:ext cx="7416824" cy="864096"/>
          </a:xfrm>
          <a:prstGeom prst="rect">
            <a:avLst/>
          </a:prstGeom>
          <a:noFill/>
          <a:ln>
            <a:miter lim="800000"/>
            <a:headEnd/>
            <a:tailEnd/>
          </a:ln>
          <a:effectLst>
            <a:outerShdw dist="28398" dir="3806097" algn="ctr" rotWithShape="0">
              <a:schemeClr val="tx1"/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0" b="1" dirty="0" smtClean="0">
                <a:solidFill>
                  <a:srgbClr val="FF0000"/>
                </a:solidFill>
                <a:latin typeface="Book Antiqua" pitchFamily="18" charset="0"/>
                <a:ea typeface="문체부 제목 바탕체" panose="02030609000101010101" pitchFamily="17" charset="-127"/>
                <a:cs typeface="+mj-cs"/>
              </a:rPr>
              <a:t>Why </a:t>
            </a:r>
            <a:r>
              <a:rPr lang="en-US" altLang="ko-KR" sz="6000" b="1" dirty="0" smtClean="0">
                <a:solidFill>
                  <a:srgbClr val="0000FF"/>
                </a:solidFill>
                <a:latin typeface="Book Antiqua" pitchFamily="18" charset="0"/>
                <a:ea typeface="문체부 제목 바탕체" panose="02030609000101010101" pitchFamily="17" charset="-127"/>
                <a:cs typeface="+mj-cs"/>
              </a:rPr>
              <a:t>AI Platform </a:t>
            </a:r>
            <a:r>
              <a:rPr lang="en-US" altLang="ko-KR" sz="6000" b="1" dirty="0" smtClean="0">
                <a:solidFill>
                  <a:srgbClr val="FF0000"/>
                </a:solidFill>
                <a:latin typeface="Book Antiqua" pitchFamily="18" charset="0"/>
                <a:ea typeface="문체부 제목 바탕체" panose="02030609000101010101" pitchFamily="17" charset="-127"/>
                <a:cs typeface="+mj-cs"/>
              </a:rPr>
              <a:t>?</a:t>
            </a:r>
            <a:endParaRPr kumimoji="0" lang="en-US" altLang="ko-KR" sz="6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 pitchFamily="18" charset="0"/>
              <a:ea typeface="문체부 제목 바탕체" panose="02030609000101010101" pitchFamily="17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1058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272480" y="188640"/>
            <a:ext cx="9433048" cy="6480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648744" y="620688"/>
            <a:ext cx="4176464" cy="864096"/>
          </a:xfrm>
          <a:prstGeom prst="rect">
            <a:avLst/>
          </a:prstGeom>
          <a:noFill/>
          <a:ln>
            <a:miter lim="800000"/>
            <a:headEnd/>
            <a:tailEnd/>
          </a:ln>
          <a:effectLst>
            <a:outerShdw dist="28398" dir="3806097" algn="ctr" rotWithShape="0">
              <a:schemeClr val="tx1"/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0" b="1" dirty="0" smtClean="0">
                <a:solidFill>
                  <a:srgbClr val="0000FF"/>
                </a:solidFill>
                <a:latin typeface="Book Antiqua" pitchFamily="18" charset="0"/>
                <a:ea typeface="+mj-ea"/>
                <a:cs typeface="+mj-cs"/>
              </a:rPr>
              <a:t>AI</a:t>
            </a:r>
            <a:r>
              <a:rPr lang="en-US" altLang="ko-KR" sz="60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  <a:ea typeface="+mj-ea"/>
                <a:cs typeface="+mj-cs"/>
              </a:rPr>
              <a:t> </a:t>
            </a:r>
            <a:r>
              <a:rPr lang="en-US" altLang="ko-KR" sz="6000" b="1" dirty="0" smtClean="0">
                <a:latin typeface="Book Antiqua" pitchFamily="18" charset="0"/>
                <a:ea typeface="+mj-ea"/>
                <a:cs typeface="+mj-cs"/>
              </a:rPr>
              <a:t>+</a:t>
            </a:r>
            <a:r>
              <a:rPr lang="en-US" altLang="ko-KR" sz="6000" b="1" dirty="0" smtClean="0">
                <a:solidFill>
                  <a:srgbClr val="FF0000"/>
                </a:solidFill>
                <a:latin typeface="Book Antiqua" pitchFamily="18" charset="0"/>
                <a:ea typeface="+mj-ea"/>
                <a:cs typeface="+mj-cs"/>
              </a:rPr>
              <a:t>AI</a:t>
            </a:r>
            <a:r>
              <a:rPr lang="en-US" altLang="ko-KR" sz="6000" b="1" dirty="0" smtClean="0">
                <a:latin typeface="Book Antiqua" pitchFamily="18" charset="0"/>
                <a:ea typeface="+mj-ea"/>
                <a:cs typeface="+mj-cs"/>
              </a:rPr>
              <a:t>+AI</a:t>
            </a:r>
            <a:r>
              <a:rPr lang="en-US" altLang="ko-KR" sz="4400" b="1" dirty="0" smtClean="0">
                <a:solidFill>
                  <a:srgbClr val="FF99FF"/>
                </a:solidFill>
                <a:latin typeface="Book Antiqua" pitchFamily="18" charset="0"/>
                <a:ea typeface="+mj-ea"/>
                <a:cs typeface="+mj-cs"/>
              </a:rPr>
              <a:t> 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Book Antiqua" pitchFamily="18" charset="0"/>
              <a:ea typeface="+mj-ea"/>
              <a:cs typeface="+mj-cs"/>
            </a:endParaRPr>
          </a:p>
        </p:txBody>
      </p:sp>
      <p:pic>
        <p:nvPicPr>
          <p:cNvPr id="1026" name="Picture 2" descr="Automation &amp; AI – Network Software &amp; Technolog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004" y="2132856"/>
            <a:ext cx="4913260" cy="35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95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272480" y="188640"/>
            <a:ext cx="9433048" cy="6480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416496" y="685596"/>
            <a:ext cx="6696744" cy="576064"/>
          </a:xfrm>
          <a:prstGeom prst="rect">
            <a:avLst/>
          </a:prstGeom>
          <a:noFill/>
          <a:ln>
            <a:solidFill>
              <a:srgbClr val="FFC000"/>
            </a:solidFill>
            <a:miter lim="800000"/>
            <a:headEnd/>
            <a:tailEnd/>
          </a:ln>
          <a:effectLst>
            <a:outerShdw dist="28398" dir="3806097" algn="ctr" rotWithShape="0">
              <a:schemeClr val="tx1"/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 smtClean="0">
                <a:latin typeface="+mn-ea"/>
                <a:ea typeface="+mn-ea"/>
                <a:cs typeface="+mj-cs"/>
              </a:rPr>
              <a:t>Two key criteria by AI for innovation</a:t>
            </a:r>
            <a:r>
              <a:rPr lang="en-US" altLang="ko-KR" sz="4400" b="1" dirty="0" smtClean="0">
                <a:latin typeface="+mn-ea"/>
                <a:ea typeface="+mn-ea"/>
                <a:cs typeface="+mj-cs"/>
              </a:rPr>
              <a:t> 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+mj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96516" y="1988840"/>
            <a:ext cx="8784976" cy="33547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1. </a:t>
            </a:r>
            <a:r>
              <a:rPr kumimoji="0" lang="en-US" altLang="ko-K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AI technology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Already advanced and will develop rapidly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Currently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open source 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can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be easily obtained by 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anyone 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Uber uses the open source such as google map and apple pay etc.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en-US" altLang="ko-K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2. </a:t>
            </a:r>
            <a:r>
              <a:rPr kumimoji="0" lang="en-US" altLang="ko-K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Market for Application </a:t>
            </a:r>
            <a:r>
              <a:rPr kumimoji="0" lang="en-US" altLang="ko-K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kumimoji="0" lang="en-US" altLang="ko-K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명조" panose="02030600000101010101" pitchFamily="18" charset="-127"/>
                <a:ea typeface="HY견명조" panose="02030600000101010101" pitchFamily="18" charset="-127"/>
                <a:sym typeface="Wingdings" panose="05000000000000000000" pitchFamily="2" charset="2"/>
              </a:rPr>
              <a:t>Platform</a:t>
            </a:r>
            <a:endParaRPr kumimoji="0" lang="en-US" altLang="ko-KR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marL="914400" lvl="1" indent="-4572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ko-KR" sz="20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14400" lvl="1" indent="-4572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The idea of applying the technology is more important than the technical part in order to preoccupy the market</a:t>
            </a:r>
          </a:p>
        </p:txBody>
      </p:sp>
    </p:spTree>
    <p:extLst>
      <p:ext uri="{BB962C8B-B14F-4D97-AF65-F5344CB8AC3E}">
        <p14:creationId xmlns:p14="http://schemas.microsoft.com/office/powerpoint/2010/main" val="7613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200472" y="230125"/>
            <a:ext cx="9433048" cy="6480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488504" y="620688"/>
            <a:ext cx="3168352" cy="864096"/>
          </a:xfrm>
          <a:prstGeom prst="rect">
            <a:avLst/>
          </a:prstGeom>
          <a:noFill/>
          <a:ln>
            <a:miter lim="800000"/>
            <a:headEnd/>
            <a:tailEnd/>
          </a:ln>
          <a:effectLst>
            <a:outerShdw dist="28398" dir="3806097" algn="ctr" rotWithShape="0">
              <a:schemeClr val="tx1"/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b="1" dirty="0" smtClean="0">
                <a:latin typeface="Book Antiqua" pitchFamily="18" charset="0"/>
                <a:ea typeface="+mj-ea"/>
                <a:cs typeface="+mj-cs"/>
              </a:rPr>
              <a:t>Platform !! </a:t>
            </a:r>
            <a:endParaRPr kumimoji="0" lang="en-US" altLang="ko-KR" sz="4400" b="1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 Antiqua" pitchFamily="18" charset="0"/>
              <a:ea typeface="+mj-ea"/>
              <a:cs typeface="+mj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20552" y="1793177"/>
            <a:ext cx="8280920" cy="738664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400" dirty="0">
                <a:latin typeface="+mn-ea"/>
                <a:ea typeface="+mn-ea"/>
              </a:rPr>
              <a:t>The platform is already changing the world itself!</a:t>
            </a:r>
            <a:endParaRPr kumimoji="0" lang="en-US" altLang="ko-KR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플랫폼은 이미 세상 자체를 바꾸고 있다 </a:t>
            </a:r>
            <a:r>
              <a:rPr kumimoji="0" lang="en-US" altLang="ko-KR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!</a:t>
            </a:r>
            <a:r>
              <a:rPr kumimoji="0" lang="ko-KR" alt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kumimoji="0" lang="en-US" altLang="ko-KR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kumimoji="0" lang="en-US" altLang="ko-KR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20552" y="2823261"/>
            <a:ext cx="8280919" cy="677108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dirty="0">
                <a:latin typeface="+mn-ea"/>
                <a:ea typeface="+mn-ea"/>
              </a:rPr>
              <a:t>Key Changes of the </a:t>
            </a:r>
            <a:r>
              <a:rPr lang="en-US" altLang="ko-KR" sz="2000" dirty="0" smtClean="0">
                <a:latin typeface="+mn-ea"/>
                <a:ea typeface="+mn-ea"/>
              </a:rPr>
              <a:t>4</a:t>
            </a:r>
            <a:r>
              <a:rPr lang="en-US" altLang="ko-KR" sz="2000" baseline="30000" dirty="0" smtClean="0">
                <a:latin typeface="+mn-ea"/>
                <a:ea typeface="+mn-ea"/>
              </a:rPr>
              <a:t>th</a:t>
            </a:r>
            <a:r>
              <a:rPr lang="en-US" altLang="ko-KR" sz="2000" dirty="0" smtClean="0">
                <a:latin typeface="+mn-ea"/>
                <a:ea typeface="+mn-ea"/>
              </a:rPr>
              <a:t> Industrial Revolution </a:t>
            </a:r>
            <a:r>
              <a:rPr lang="en-US" altLang="ko-KR" sz="2000" dirty="0" smtClean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en-US" altLang="ko-KR" sz="2000" dirty="0" smtClean="0">
                <a:latin typeface="+mn-ea"/>
                <a:ea typeface="+mn-ea"/>
              </a:rPr>
              <a:t>Platform </a:t>
            </a:r>
            <a:r>
              <a:rPr lang="en-US" altLang="ko-KR" sz="2000" dirty="0">
                <a:latin typeface="+mn-ea"/>
                <a:ea typeface="+mn-ea"/>
              </a:rPr>
              <a:t>Revolution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kumimoji="0" lang="en-US" altLang="ko-KR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ko-KR" alt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차 산업혁명의 핵심적인 변화 </a:t>
            </a:r>
            <a:r>
              <a:rPr kumimoji="0" lang="en-US" altLang="ko-KR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kumimoji="0" lang="ko-KR" alt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플랫폼 혁명</a:t>
            </a:r>
            <a:r>
              <a:rPr kumimoji="0" lang="ko-KR" alt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모음T" pitchFamily="18" charset="-127"/>
                <a:ea typeface="휴먼모음T" pitchFamily="18" charset="-127"/>
              </a:rPr>
              <a:t> </a:t>
            </a:r>
            <a:endParaRPr kumimoji="0" lang="en-US" altLang="ko-KR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휴먼모음T" pitchFamily="18" charset="-127"/>
              <a:ea typeface="휴먼모음T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17780" y="3759260"/>
            <a:ext cx="8283691" cy="677108"/>
          </a:xfrm>
          <a:prstGeom prst="rect">
            <a:avLst/>
          </a:prstGeom>
          <a:ln>
            <a:solidFill>
              <a:srgbClr val="FF99FF"/>
            </a:solidFill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dirty="0">
                <a:latin typeface="+mn-ea"/>
                <a:ea typeface="+mn-ea"/>
              </a:rPr>
              <a:t>At this moment, the market is already dominated by the platform</a:t>
            </a:r>
            <a:endParaRPr kumimoji="0" lang="en-US" altLang="ko-KR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지금 이순간 시장은 이미 플랫폼이 장악하고 있다 </a:t>
            </a:r>
            <a:r>
              <a:rPr kumimoji="0" lang="en-US" altLang="ko-KR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en-US" altLang="ko-KR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20552" y="4806317"/>
            <a:ext cx="8280920" cy="738664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400" dirty="0">
                <a:latin typeface="+mn-ea"/>
                <a:ea typeface="+mn-ea"/>
              </a:rPr>
              <a:t>Why are </a:t>
            </a:r>
            <a:r>
              <a:rPr lang="en-US" altLang="ko-KR" sz="2400" dirty="0" smtClean="0">
                <a:latin typeface="+mn-ea"/>
                <a:ea typeface="+mn-ea"/>
              </a:rPr>
              <a:t>giant companies dominated </a:t>
            </a:r>
            <a:r>
              <a:rPr lang="en-US" altLang="ko-KR" sz="2400" dirty="0">
                <a:latin typeface="+mn-ea"/>
                <a:ea typeface="+mn-ea"/>
              </a:rPr>
              <a:t>by the </a:t>
            </a:r>
            <a:r>
              <a:rPr lang="en-US" altLang="ko-KR" sz="2400" dirty="0" smtClean="0">
                <a:latin typeface="+mn-ea"/>
                <a:ea typeface="+mn-ea"/>
              </a:rPr>
              <a:t>platform ?</a:t>
            </a:r>
            <a:endParaRPr lang="en-US" altLang="ko-KR" sz="2400" dirty="0">
              <a:latin typeface="+mn-ea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왜 거대 기업이 플랫폼에 밀리고 있나 </a:t>
            </a:r>
            <a:r>
              <a:rPr kumimoji="0" lang="en-US" altLang="ko-KR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r>
              <a:rPr kumimoji="0" lang="ko-KR" alt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en-US" altLang="ko-KR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88504" y="620688"/>
            <a:ext cx="3168352" cy="790179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78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6" grpId="0" animBg="1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8464" y="116632"/>
            <a:ext cx="9612312" cy="6572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036" y="3560281"/>
            <a:ext cx="2195512" cy="2784046"/>
          </a:xfrm>
          <a:prstGeom prst="rect">
            <a:avLst/>
          </a:prstGeom>
          <a:ln>
            <a:solidFill>
              <a:srgbClr val="000099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120" y="339924"/>
            <a:ext cx="2197000" cy="2961333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04" y="339924"/>
            <a:ext cx="2016224" cy="2961333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202" y="339923"/>
            <a:ext cx="2206346" cy="2961333"/>
          </a:xfrm>
          <a:prstGeom prst="rect">
            <a:avLst/>
          </a:prstGeom>
          <a:ln w="38100">
            <a:solidFill>
              <a:srgbClr val="6600FF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04" y="3560281"/>
            <a:ext cx="2016224" cy="2784046"/>
          </a:xfrm>
          <a:prstGeom prst="rect">
            <a:avLst/>
          </a:prstGeom>
          <a:ln w="38100">
            <a:solidFill>
              <a:srgbClr val="000099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914" y="3560281"/>
            <a:ext cx="2219412" cy="278404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03787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200472" y="230125"/>
            <a:ext cx="9433048" cy="6480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531" y="1556792"/>
            <a:ext cx="8352929" cy="39703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ko-KR" dirty="0"/>
              <a:t>This course examines the </a:t>
            </a:r>
            <a:r>
              <a:rPr lang="en-US" altLang="ko-KR" dirty="0" smtClean="0"/>
              <a:t>many different </a:t>
            </a:r>
            <a:r>
              <a:rPr lang="en-US" altLang="ko-KR" dirty="0"/>
              <a:t>aspects of the AI convergence platform from various perspectives, namely, necessary technologies, service configurations, business models, and </a:t>
            </a:r>
            <a:r>
              <a:rPr lang="en-US" altLang="ko-KR" dirty="0" smtClean="0"/>
              <a:t>implement </a:t>
            </a:r>
            <a:r>
              <a:rPr lang="en-US" altLang="ko-KR" dirty="0"/>
              <a:t>environments, and analyzes and learns various types of platforms. For </a:t>
            </a:r>
            <a:r>
              <a:rPr lang="en-US" altLang="ko-KR" dirty="0" smtClean="0"/>
              <a:t>examples, this class investigates </a:t>
            </a:r>
            <a:r>
              <a:rPr lang="en-US" altLang="ko-KR" dirty="0"/>
              <a:t>and </a:t>
            </a:r>
            <a:r>
              <a:rPr lang="en-US" altLang="ko-KR" dirty="0" smtClean="0"/>
              <a:t>analyzes </a:t>
            </a:r>
            <a:r>
              <a:rPr lang="en-US" altLang="ko-KR" dirty="0"/>
              <a:t>the platform structure, software </a:t>
            </a:r>
            <a:r>
              <a:rPr lang="en-US" altLang="ko-KR" dirty="0" smtClean="0"/>
              <a:t>architecture of the nations of delivery, </a:t>
            </a:r>
            <a:r>
              <a:rPr lang="en-US" altLang="ko-KR" dirty="0" err="1" smtClean="0"/>
              <a:t>Paypal</a:t>
            </a:r>
            <a:r>
              <a:rPr lang="en-US" altLang="ko-KR" b="1" dirty="0" smtClean="0"/>
              <a:t>, Airbnb</a:t>
            </a:r>
            <a:r>
              <a:rPr lang="en-US" altLang="ko-KR" dirty="0" smtClean="0"/>
              <a:t>, </a:t>
            </a:r>
            <a:r>
              <a:rPr lang="en-US" altLang="ko-KR" dirty="0"/>
              <a:t>Amazon, </a:t>
            </a:r>
            <a:r>
              <a:rPr lang="en-US" altLang="ko-KR" dirty="0" err="1" smtClean="0"/>
              <a:t>Kakao</a:t>
            </a:r>
            <a:r>
              <a:rPr lang="en-US" altLang="ko-KR" dirty="0" smtClean="0"/>
              <a:t> Talk</a:t>
            </a:r>
            <a:r>
              <a:rPr lang="en-US" altLang="ko-KR" dirty="0"/>
              <a:t>, and </a:t>
            </a:r>
            <a:r>
              <a:rPr lang="en-US" altLang="ko-KR" b="1" dirty="0" smtClean="0"/>
              <a:t>Uber</a:t>
            </a:r>
            <a:r>
              <a:rPr lang="en-US" altLang="ko-KR" dirty="0" smtClean="0"/>
              <a:t> and so on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ko-KR" dirty="0" smtClean="0"/>
              <a:t>In </a:t>
            </a:r>
            <a:r>
              <a:rPr lang="en-US" altLang="ko-KR" dirty="0"/>
              <a:t>addition, </a:t>
            </a:r>
            <a:r>
              <a:rPr lang="en-US" altLang="ko-KR" dirty="0" smtClean="0"/>
              <a:t>students can learn </a:t>
            </a:r>
            <a:r>
              <a:rPr lang="en-US" altLang="ko-KR" dirty="0"/>
              <a:t>about the </a:t>
            </a:r>
            <a:r>
              <a:rPr lang="en-US" altLang="ko-KR" dirty="0" smtClean="0"/>
              <a:t>necessary technologies </a:t>
            </a:r>
            <a:r>
              <a:rPr lang="en-US" altLang="ko-KR" dirty="0"/>
              <a:t>for the 4th industrial environment and how to use </a:t>
            </a:r>
            <a:r>
              <a:rPr lang="en-US" altLang="ko-KR" dirty="0" smtClean="0"/>
              <a:t>AI </a:t>
            </a:r>
            <a:r>
              <a:rPr lang="en-US" altLang="ko-KR" dirty="0"/>
              <a:t>technologies, and designs </a:t>
            </a:r>
            <a:r>
              <a:rPr lang="en-US" altLang="ko-KR" dirty="0" smtClean="0"/>
              <a:t>the future AI </a:t>
            </a:r>
            <a:r>
              <a:rPr lang="en-US" altLang="ko-KR" dirty="0"/>
              <a:t>platforms that apply this technology. In addition, students will learn how to use the </a:t>
            </a:r>
            <a:r>
              <a:rPr lang="en-US" altLang="ko-KR" dirty="0" smtClean="0"/>
              <a:t>AI </a:t>
            </a:r>
            <a:r>
              <a:rPr lang="en-US" altLang="ko-KR" dirty="0"/>
              <a:t>convergence platform, which is a future platform, for </a:t>
            </a:r>
            <a:r>
              <a:rPr lang="en-US" altLang="ko-KR" dirty="0" smtClean="0"/>
              <a:t>business &amp; more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 smtClean="0">
              <a:latin typeface="+mn-ea"/>
              <a:ea typeface="+mn-ea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416496" y="477051"/>
            <a:ext cx="5040560" cy="832815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b="1" dirty="0" smtClean="0">
                <a:solidFill>
                  <a:srgbClr val="FFFF00"/>
                </a:solidFill>
              </a:rPr>
              <a:t> </a:t>
            </a:r>
            <a:r>
              <a:rPr kumimoji="0" lang="en-US" altLang="ko-KR" b="1" dirty="0" smtClean="0">
                <a:solidFill>
                  <a:srgbClr val="0000FF"/>
                </a:solidFill>
              </a:rPr>
              <a:t>Course Summary</a:t>
            </a:r>
            <a:endParaRPr kumimoji="0" lang="ko-KR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71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200472" y="230125"/>
            <a:ext cx="9433048" cy="6480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528" y="1556792"/>
            <a:ext cx="8568952" cy="4093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ko-KR" sz="2000" dirty="0"/>
              <a:t>Artificial Intelligence Convergence Platform Overview and </a:t>
            </a:r>
            <a:r>
              <a:rPr lang="en-US" altLang="ko-KR" sz="2000" dirty="0" smtClean="0"/>
              <a:t>Definition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altLang="ko-KR" sz="2000" dirty="0" smtClean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ko-KR" sz="2000" dirty="0" smtClean="0"/>
              <a:t>Software structure/architecture </a:t>
            </a:r>
            <a:r>
              <a:rPr lang="en-US" altLang="ko-KR" sz="2000" dirty="0"/>
              <a:t>of </a:t>
            </a:r>
            <a:r>
              <a:rPr lang="en-US" altLang="ko-KR" sz="2000" dirty="0" smtClean="0"/>
              <a:t>AI convergence platform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altLang="ko-KR" sz="2000" dirty="0" smtClean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ko-KR" sz="2000" dirty="0" smtClean="0"/>
              <a:t>Core technologies </a:t>
            </a:r>
            <a:r>
              <a:rPr lang="en-US" altLang="ko-KR" sz="2000" dirty="0"/>
              <a:t>of </a:t>
            </a:r>
            <a:r>
              <a:rPr lang="en-US" altLang="ko-KR" sz="2000" dirty="0" smtClean="0"/>
              <a:t>AI </a:t>
            </a:r>
            <a:r>
              <a:rPr lang="en-US" altLang="ko-KR" sz="2000" dirty="0"/>
              <a:t>convergence platform (AI, </a:t>
            </a:r>
            <a:r>
              <a:rPr lang="en-US" altLang="ko-KR" sz="2000" dirty="0" smtClean="0"/>
              <a:t>convergence, platform </a:t>
            </a:r>
            <a:r>
              <a:rPr lang="en-US" altLang="ko-KR" sz="2000" dirty="0"/>
              <a:t>technology, etc</a:t>
            </a:r>
            <a:r>
              <a:rPr lang="en-US" altLang="ko-KR" sz="2000" dirty="0" smtClean="0"/>
              <a:t>.)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altLang="ko-KR" sz="2000" dirty="0" smtClean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ko-KR" sz="2000" dirty="0" smtClean="0"/>
              <a:t>Case studies (The nation </a:t>
            </a:r>
            <a:r>
              <a:rPr lang="en-US" altLang="ko-KR" sz="2000" dirty="0"/>
              <a:t>of Delivery, </a:t>
            </a:r>
            <a:r>
              <a:rPr lang="en-US" altLang="ko-KR" sz="2000" b="1" dirty="0"/>
              <a:t>Uber</a:t>
            </a:r>
            <a:r>
              <a:rPr lang="en-US" altLang="ko-KR" sz="2000" dirty="0"/>
              <a:t>, Amazon, </a:t>
            </a:r>
            <a:r>
              <a:rPr lang="en-US" altLang="ko-KR" sz="2000" dirty="0" err="1"/>
              <a:t>KakaoTalk</a:t>
            </a:r>
            <a:r>
              <a:rPr lang="en-US" altLang="ko-KR" sz="2000" dirty="0"/>
              <a:t>, </a:t>
            </a:r>
            <a:r>
              <a:rPr lang="en-US" altLang="ko-KR" sz="2000" b="1" dirty="0" smtClean="0"/>
              <a:t>Airbnb</a:t>
            </a:r>
            <a:r>
              <a:rPr lang="en-US" altLang="ko-KR" sz="2000" dirty="0" smtClean="0"/>
              <a:t>, </a:t>
            </a:r>
            <a:r>
              <a:rPr lang="en-US" altLang="ko-KR" sz="2000" dirty="0"/>
              <a:t>etc</a:t>
            </a:r>
            <a:r>
              <a:rPr lang="en-US" altLang="ko-KR" sz="2000" dirty="0" smtClean="0"/>
              <a:t>.)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altLang="ko-KR" sz="2000" dirty="0" smtClean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ko-KR" sz="2000" dirty="0" smtClean="0"/>
              <a:t>Application </a:t>
            </a:r>
            <a:r>
              <a:rPr lang="en-US" altLang="ko-KR" sz="2000" dirty="0"/>
              <a:t>plan of artificial intelligence </a:t>
            </a:r>
            <a:r>
              <a:rPr lang="en-US" altLang="ko-KR" sz="2000" dirty="0" smtClean="0"/>
              <a:t>convergence platform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ko-KR" sz="2000" dirty="0" smtClean="0"/>
              <a:t>Group project</a:t>
            </a:r>
            <a:endParaRPr lang="en-US" altLang="ko-KR" sz="2000" dirty="0"/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344488" y="620688"/>
            <a:ext cx="3672408" cy="832815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b="1" dirty="0" smtClean="0">
                <a:solidFill>
                  <a:srgbClr val="FFFF00"/>
                </a:solidFill>
              </a:rPr>
              <a:t> </a:t>
            </a:r>
            <a:r>
              <a:rPr kumimoji="0" lang="en-US" altLang="ko-KR" b="1" dirty="0" smtClean="0">
                <a:solidFill>
                  <a:srgbClr val="0000FF"/>
                </a:solidFill>
              </a:rPr>
              <a:t>Course Goal</a:t>
            </a:r>
            <a:endParaRPr kumimoji="0" lang="ko-KR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42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200472" y="230125"/>
            <a:ext cx="9433048" cy="6480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2520" y="1844824"/>
            <a:ext cx="8352928" cy="3477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altLang="ko-KR" sz="2000" dirty="0"/>
              <a:t>The learning effect of this </a:t>
            </a:r>
            <a:r>
              <a:rPr lang="en-US" altLang="ko-KR" sz="2000" dirty="0" smtClean="0"/>
              <a:t>course </a:t>
            </a:r>
            <a:r>
              <a:rPr lang="en-US" altLang="ko-KR" sz="2000" dirty="0"/>
              <a:t>is to acquire knowledge about the </a:t>
            </a:r>
            <a:r>
              <a:rPr lang="en-US" altLang="ko-KR" sz="2000" dirty="0" smtClean="0"/>
              <a:t>structure </a:t>
            </a:r>
            <a:r>
              <a:rPr lang="en-US" altLang="ko-KR" sz="2000" dirty="0"/>
              <a:t>and utility of the AI </a:t>
            </a:r>
            <a:r>
              <a:rPr lang="en-US" altLang="ko-KR" sz="2000" dirty="0" smtClean="0"/>
              <a:t>convergence </a:t>
            </a:r>
            <a:r>
              <a:rPr lang="en-US" altLang="ko-KR" sz="2000" dirty="0"/>
              <a:t>platform by analyzing various types of platforms from various </a:t>
            </a:r>
            <a:r>
              <a:rPr lang="en-US" altLang="ko-KR" sz="2000" dirty="0" smtClean="0"/>
              <a:t>perspectives </a:t>
            </a:r>
            <a:r>
              <a:rPr lang="en-US" altLang="ko-KR" sz="2000" dirty="0"/>
              <a:t>and learning (Case Study) the internal and external aspects of the AI </a:t>
            </a:r>
            <a:r>
              <a:rPr lang="en-US" altLang="ko-KR" sz="2000" dirty="0" smtClean="0"/>
              <a:t>convergence </a:t>
            </a:r>
            <a:r>
              <a:rPr lang="en-US" altLang="ko-KR" sz="2000" dirty="0"/>
              <a:t>platform</a:t>
            </a:r>
            <a:r>
              <a:rPr lang="en-US" altLang="ko-KR" sz="2000" dirty="0" smtClean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altLang="ko-KR" sz="2000" dirty="0" smtClean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altLang="ko-KR" sz="2000" dirty="0" smtClean="0"/>
              <a:t>In </a:t>
            </a:r>
            <a:r>
              <a:rPr lang="en-US" altLang="ko-KR" sz="2000" dirty="0"/>
              <a:t>addition, by designing </a:t>
            </a:r>
            <a:r>
              <a:rPr lang="en-US" altLang="ko-KR" sz="2000" dirty="0" smtClean="0"/>
              <a:t>a </a:t>
            </a:r>
            <a:r>
              <a:rPr lang="en-US" altLang="ko-KR" sz="2000" dirty="0"/>
              <a:t>future platform that applies the </a:t>
            </a:r>
            <a:r>
              <a:rPr lang="en-US" altLang="ko-KR" sz="2000" dirty="0" smtClean="0"/>
              <a:t>necessary technologies </a:t>
            </a:r>
            <a:r>
              <a:rPr lang="en-US" altLang="ko-KR" sz="2000" dirty="0"/>
              <a:t>for the 4th industrial environment (mainly, big data, AI, etc.), students learn </a:t>
            </a:r>
            <a:r>
              <a:rPr lang="en-US" altLang="ko-KR" sz="2000" b="1" dirty="0"/>
              <a:t>how to use the future AI </a:t>
            </a:r>
            <a:r>
              <a:rPr lang="en-US" altLang="ko-KR" sz="2000" b="1" dirty="0" smtClean="0"/>
              <a:t>convergence </a:t>
            </a:r>
            <a:r>
              <a:rPr lang="en-US" altLang="ko-KR" sz="2000" b="1" dirty="0"/>
              <a:t>platform for business.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altLang="ko-KR" sz="2000" dirty="0"/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241815" y="836712"/>
            <a:ext cx="4752528" cy="57606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b="1" dirty="0" smtClean="0">
                <a:solidFill>
                  <a:srgbClr val="FFFF00"/>
                </a:solidFill>
              </a:rPr>
              <a:t> </a:t>
            </a:r>
            <a:r>
              <a:rPr kumimoji="0" lang="en-US" altLang="ko-KR" b="1" dirty="0" smtClean="0">
                <a:solidFill>
                  <a:srgbClr val="0000FF"/>
                </a:solidFill>
              </a:rPr>
              <a:t>Learning Performance</a:t>
            </a:r>
            <a:endParaRPr kumimoji="0" lang="ko-KR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2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128464" y="116632"/>
            <a:ext cx="9612312" cy="6572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44488" y="473231"/>
            <a:ext cx="6984776" cy="584775"/>
          </a:xfrm>
          <a:prstGeom prst="rect">
            <a:avLst/>
          </a:prstGeom>
          <a:ln>
            <a:solidFill>
              <a:srgbClr val="FF99FF"/>
            </a:solidFill>
          </a:ln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200" dirty="0" smtClean="0">
                <a:solidFill>
                  <a:srgbClr val="0000FF"/>
                </a:solidFill>
                <a:latin typeface="휴먼모음T" pitchFamily="18" charset="-127"/>
                <a:ea typeface="휴먼모음T" pitchFamily="18" charset="-127"/>
              </a:rPr>
              <a:t>Course Objective Summary</a:t>
            </a:r>
            <a:endParaRPr kumimoji="0" lang="ko-KR" altLang="en-US" sz="3200" dirty="0" smtClean="0">
              <a:solidFill>
                <a:srgbClr val="0000FF"/>
              </a:solidFill>
              <a:latin typeface="휴먼모음T" pitchFamily="18" charset="-127"/>
              <a:ea typeface="휴먼모음T" pitchFamily="18" charset="-127"/>
            </a:endParaRPr>
          </a:p>
        </p:txBody>
      </p:sp>
      <p:grpSp>
        <p:nvGrpSpPr>
          <p:cNvPr id="2" name="그룹 135"/>
          <p:cNvGrpSpPr>
            <a:grpSpLocks/>
          </p:cNvGrpSpPr>
          <p:nvPr/>
        </p:nvGrpSpPr>
        <p:grpSpPr bwMode="auto">
          <a:xfrm>
            <a:off x="1014716" y="1314863"/>
            <a:ext cx="8398744" cy="647700"/>
            <a:chOff x="1092498" y="1904132"/>
            <a:chExt cx="8397875" cy="647700"/>
          </a:xfrm>
        </p:grpSpPr>
        <p:grpSp>
          <p:nvGrpSpPr>
            <p:cNvPr id="3" name="그룹 144"/>
            <p:cNvGrpSpPr>
              <a:grpSpLocks/>
            </p:cNvGrpSpPr>
            <p:nvPr/>
          </p:nvGrpSpPr>
          <p:grpSpPr bwMode="auto">
            <a:xfrm>
              <a:off x="1092498" y="1904132"/>
              <a:ext cx="8001000" cy="647700"/>
              <a:chOff x="1142747" y="4437112"/>
              <a:chExt cx="8001253" cy="648072"/>
            </a:xfrm>
          </p:grpSpPr>
          <p:sp>
            <p:nvSpPr>
              <p:cNvPr id="108" name="모서리가 둥근 직사각형 107"/>
              <p:cNvSpPr/>
              <p:nvPr/>
            </p:nvSpPr>
            <p:spPr>
              <a:xfrm>
                <a:off x="1430779" y="5013177"/>
                <a:ext cx="7713221" cy="45719"/>
              </a:xfrm>
              <a:prstGeom prst="roundRect">
                <a:avLst/>
              </a:prstGeom>
              <a:solidFill>
                <a:srgbClr val="FFCCFF"/>
              </a:solidFill>
              <a:ln w="28575">
                <a:noFill/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endParaRPr lang="ko-KR" altLang="en-US"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4" name="그룹 258"/>
              <p:cNvGrpSpPr>
                <a:grpSpLocks/>
              </p:cNvGrpSpPr>
              <p:nvPr/>
            </p:nvGrpSpPr>
            <p:grpSpPr bwMode="auto">
              <a:xfrm flipV="1">
                <a:off x="1142747" y="4437112"/>
                <a:ext cx="648072" cy="648072"/>
                <a:chOff x="827584" y="2348880"/>
                <a:chExt cx="2730170" cy="2730170"/>
              </a:xfrm>
            </p:grpSpPr>
            <p:sp>
              <p:nvSpPr>
                <p:cNvPr id="112" name="타원 111"/>
                <p:cNvSpPr/>
                <p:nvPr/>
              </p:nvSpPr>
              <p:spPr>
                <a:xfrm>
                  <a:off x="827584" y="2348880"/>
                  <a:ext cx="2730170" cy="2730170"/>
                </a:xfrm>
                <a:prstGeom prst="ellipse">
                  <a:avLst/>
                </a:prstGeom>
                <a:solidFill>
                  <a:srgbClr val="FFCCFF"/>
                </a:solidFill>
                <a:ln w="28575">
                  <a:noFill/>
                  <a:headEnd/>
                  <a:tailEnd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en-US" sz="1400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13" name="타원 112"/>
                <p:cNvSpPr/>
                <p:nvPr/>
              </p:nvSpPr>
              <p:spPr>
                <a:xfrm rot="10800000">
                  <a:off x="854333" y="2375646"/>
                  <a:ext cx="2641473" cy="2643181"/>
                </a:xfrm>
                <a:prstGeom prst="ellipse">
                  <a:avLst/>
                </a:prstGeom>
                <a:solidFill>
                  <a:srgbClr val="FFCC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altLang="ko-KR" sz="1400" b="1" dirty="0"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rPr>
                    <a:t>1</a:t>
                  </a:r>
                  <a:endParaRPr lang="ko-KR" altLang="en-US" sz="14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132" name="TextBox 171"/>
            <p:cNvSpPr txBox="1">
              <a:spLocks noChangeArrowheads="1"/>
            </p:cNvSpPr>
            <p:nvPr/>
          </p:nvSpPr>
          <p:spPr bwMode="auto">
            <a:xfrm>
              <a:off x="1785445" y="1916683"/>
              <a:ext cx="770492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dirty="0" smtClean="0">
                  <a:latin typeface="Arial" pitchFamily="34" charset="0"/>
                  <a:ea typeface="휴먼모음T" pitchFamily="18" charset="-127"/>
                  <a:cs typeface="Arial" pitchFamily="34" charset="0"/>
                </a:rPr>
                <a:t>The 4</a:t>
              </a:r>
              <a:r>
                <a:rPr lang="en-US" altLang="ko-KR" sz="2400" baseline="30000" dirty="0" smtClean="0">
                  <a:latin typeface="Arial" pitchFamily="34" charset="0"/>
                  <a:ea typeface="휴먼모음T" pitchFamily="18" charset="-127"/>
                  <a:cs typeface="Arial" pitchFamily="34" charset="0"/>
                </a:rPr>
                <a:t>th</a:t>
              </a:r>
              <a:r>
                <a:rPr lang="en-US" altLang="ko-KR" sz="2400" dirty="0" smtClean="0">
                  <a:latin typeface="Arial" pitchFamily="34" charset="0"/>
                  <a:ea typeface="휴먼모음T" pitchFamily="18" charset="-127"/>
                  <a:cs typeface="Arial" pitchFamily="34" charset="0"/>
                </a:rPr>
                <a:t> Industrial Revolution and Platform</a:t>
              </a:r>
            </a:p>
          </p:txBody>
        </p:sp>
      </p:grpSp>
      <p:grpSp>
        <p:nvGrpSpPr>
          <p:cNvPr id="5" name="그룹 136"/>
          <p:cNvGrpSpPr>
            <a:grpSpLocks/>
          </p:cNvGrpSpPr>
          <p:nvPr/>
        </p:nvGrpSpPr>
        <p:grpSpPr bwMode="auto">
          <a:xfrm>
            <a:off x="1014716" y="2112526"/>
            <a:ext cx="8425734" cy="647700"/>
            <a:chOff x="1103611" y="2696293"/>
            <a:chExt cx="8424861" cy="647700"/>
          </a:xfrm>
        </p:grpSpPr>
        <p:grpSp>
          <p:nvGrpSpPr>
            <p:cNvPr id="6" name="그룹 153"/>
            <p:cNvGrpSpPr>
              <a:grpSpLocks/>
            </p:cNvGrpSpPr>
            <p:nvPr/>
          </p:nvGrpSpPr>
          <p:grpSpPr bwMode="auto">
            <a:xfrm>
              <a:off x="1103611" y="2696293"/>
              <a:ext cx="7989887" cy="647700"/>
              <a:chOff x="1153424" y="5229198"/>
              <a:chExt cx="7990576" cy="648072"/>
            </a:xfrm>
          </p:grpSpPr>
          <p:sp>
            <p:nvSpPr>
              <p:cNvPr id="115" name="모서리가 둥근 직사각형 114"/>
              <p:cNvSpPr/>
              <p:nvPr/>
            </p:nvSpPr>
            <p:spPr>
              <a:xfrm>
                <a:off x="1430779" y="5819775"/>
                <a:ext cx="7713221" cy="45719"/>
              </a:xfrm>
              <a:prstGeom prst="roundRect">
                <a:avLst/>
              </a:prstGeom>
              <a:solidFill>
                <a:srgbClr val="82B000"/>
              </a:solidFill>
              <a:ln w="28575">
                <a:noFill/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endParaRPr lang="ko-KR" altLang="en-US"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1" name="타원 120"/>
              <p:cNvSpPr/>
              <p:nvPr/>
            </p:nvSpPr>
            <p:spPr bwMode="auto">
              <a:xfrm rot="10800000" flipV="1">
                <a:off x="1153424" y="5229198"/>
                <a:ext cx="648074" cy="648072"/>
              </a:xfrm>
              <a:prstGeom prst="ellipse">
                <a:avLst/>
              </a:prstGeom>
              <a:solidFill>
                <a:srgbClr val="82B000"/>
              </a:solidFill>
              <a:ln w="28575">
                <a:noFill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ko-KR" sz="14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endParaRPr lang="ko-KR" altLang="en-US" sz="14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3089" name="TextBox 172"/>
            <p:cNvSpPr txBox="1">
              <a:spLocks noChangeArrowheads="1"/>
            </p:cNvSpPr>
            <p:nvPr/>
          </p:nvSpPr>
          <p:spPr bwMode="auto">
            <a:xfrm>
              <a:off x="1823616" y="2762194"/>
              <a:ext cx="770485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0" lang="en-US" altLang="ko-KR" sz="2400" dirty="0" smtClean="0">
                  <a:latin typeface="Arial" pitchFamily="34" charset="0"/>
                  <a:ea typeface="휴먼모음T" pitchFamily="18" charset="-127"/>
                  <a:cs typeface="Arial" pitchFamily="34" charset="0"/>
                  <a:sym typeface="Wingdings" pitchFamily="2" charset="2"/>
                </a:rPr>
                <a:t>(AI) Platform : </a:t>
              </a:r>
              <a:r>
                <a:rPr kumimoji="0" lang="en-US" altLang="ko-KR" dirty="0" smtClean="0">
                  <a:latin typeface="Arial" pitchFamily="34" charset="0"/>
                  <a:ea typeface="휴먼모음T" pitchFamily="18" charset="-127"/>
                  <a:cs typeface="Arial" pitchFamily="34" charset="0"/>
                  <a:sym typeface="Wingdings" pitchFamily="2" charset="2"/>
                </a:rPr>
                <a:t>Definition, Types,  Roles and Case studies  </a:t>
              </a:r>
              <a:r>
                <a:rPr kumimoji="0" lang="en-US" altLang="ko-KR" dirty="0" smtClean="0">
                  <a:latin typeface="Arial" pitchFamily="34" charset="0"/>
                  <a:ea typeface="휴먼모음T" pitchFamily="18" charset="-127"/>
                  <a:cs typeface="Arial" pitchFamily="34" charset="0"/>
                </a:rPr>
                <a:t> </a:t>
              </a:r>
              <a:endParaRPr kumimoji="0" lang="en-US" altLang="ko-KR" dirty="0">
                <a:latin typeface="Arial" pitchFamily="34" charset="0"/>
                <a:ea typeface="휴먼모음T" pitchFamily="18" charset="-127"/>
                <a:cs typeface="Arial" pitchFamily="34" charset="0"/>
              </a:endParaRPr>
            </a:p>
          </p:txBody>
        </p:sp>
      </p:grpSp>
      <p:grpSp>
        <p:nvGrpSpPr>
          <p:cNvPr id="7" name="그룹 137"/>
          <p:cNvGrpSpPr>
            <a:grpSpLocks/>
          </p:cNvGrpSpPr>
          <p:nvPr/>
        </p:nvGrpSpPr>
        <p:grpSpPr bwMode="auto">
          <a:xfrm>
            <a:off x="1021065" y="2936590"/>
            <a:ext cx="8497742" cy="647700"/>
            <a:chOff x="1103611" y="3704481"/>
            <a:chExt cx="8496862" cy="647700"/>
          </a:xfrm>
        </p:grpSpPr>
        <p:grpSp>
          <p:nvGrpSpPr>
            <p:cNvPr id="9" name="그룹 162"/>
            <p:cNvGrpSpPr>
              <a:grpSpLocks/>
            </p:cNvGrpSpPr>
            <p:nvPr/>
          </p:nvGrpSpPr>
          <p:grpSpPr bwMode="auto">
            <a:xfrm>
              <a:off x="1103611" y="3704481"/>
              <a:ext cx="7989887" cy="647700"/>
              <a:chOff x="1153424" y="6237435"/>
              <a:chExt cx="7990576" cy="648072"/>
            </a:xfrm>
          </p:grpSpPr>
          <p:sp>
            <p:nvSpPr>
              <p:cNvPr id="124" name="모서리가 둥근 직사각형 123"/>
              <p:cNvSpPr/>
              <p:nvPr/>
            </p:nvSpPr>
            <p:spPr>
              <a:xfrm>
                <a:off x="1430779" y="6831335"/>
                <a:ext cx="7713221" cy="45719"/>
              </a:xfrm>
              <a:prstGeom prst="roundRect">
                <a:avLst/>
              </a:prstGeom>
              <a:solidFill>
                <a:srgbClr val="FFC000"/>
              </a:solidFill>
              <a:ln w="28575">
                <a:noFill/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endParaRPr lang="ko-KR" altLang="en-US"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0" name="타원 129"/>
              <p:cNvSpPr/>
              <p:nvPr/>
            </p:nvSpPr>
            <p:spPr bwMode="auto">
              <a:xfrm>
                <a:off x="1153424" y="6237435"/>
                <a:ext cx="648072" cy="648072"/>
              </a:xfrm>
              <a:prstGeom prst="ellipse">
                <a:avLst/>
              </a:prstGeom>
              <a:solidFill>
                <a:srgbClr val="FFC000"/>
              </a:solidFill>
              <a:ln w="28575">
                <a:noFill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ko-KR" sz="14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endParaRPr lang="ko-KR" altLang="en-US" sz="14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3081" name="TextBox 133"/>
            <p:cNvSpPr txBox="1">
              <a:spLocks noChangeArrowheads="1"/>
            </p:cNvSpPr>
            <p:nvPr/>
          </p:nvSpPr>
          <p:spPr bwMode="auto">
            <a:xfrm>
              <a:off x="1891519" y="3770888"/>
              <a:ext cx="77089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kumimoji="0" lang="en-US" altLang="ko-KR" sz="2400" dirty="0" smtClean="0">
                  <a:latin typeface="Arial" pitchFamily="34" charset="0"/>
                  <a:ea typeface="휴먼모음T" pitchFamily="18" charset="-127"/>
                  <a:cs typeface="Arial" pitchFamily="34" charset="0"/>
                  <a:sym typeface="Wingdings" pitchFamily="2" charset="2"/>
                </a:rPr>
                <a:t>Technologies for AI platforms : </a:t>
              </a:r>
              <a:r>
                <a:rPr kumimoji="0" lang="en-US" altLang="ko-KR" sz="2000" dirty="0" smtClean="0">
                  <a:latin typeface="Arial" pitchFamily="34" charset="0"/>
                  <a:ea typeface="휴먼모음T" pitchFamily="18" charset="-127"/>
                  <a:cs typeface="Arial" pitchFamily="34" charset="0"/>
                  <a:sym typeface="Wingdings" pitchFamily="2" charset="2"/>
                </a:rPr>
                <a:t> AI  &amp; application  </a:t>
              </a:r>
            </a:p>
          </p:txBody>
        </p:sp>
      </p:grpSp>
      <p:grpSp>
        <p:nvGrpSpPr>
          <p:cNvPr id="21" name="그룹 137"/>
          <p:cNvGrpSpPr>
            <a:grpSpLocks/>
          </p:cNvGrpSpPr>
          <p:nvPr/>
        </p:nvGrpSpPr>
        <p:grpSpPr bwMode="auto">
          <a:xfrm>
            <a:off x="1048881" y="3778593"/>
            <a:ext cx="8497742" cy="647700"/>
            <a:chOff x="1103611" y="3704481"/>
            <a:chExt cx="8496862" cy="647700"/>
          </a:xfrm>
        </p:grpSpPr>
        <p:grpSp>
          <p:nvGrpSpPr>
            <p:cNvPr id="22" name="그룹 162"/>
            <p:cNvGrpSpPr>
              <a:grpSpLocks/>
            </p:cNvGrpSpPr>
            <p:nvPr/>
          </p:nvGrpSpPr>
          <p:grpSpPr bwMode="auto">
            <a:xfrm>
              <a:off x="1103611" y="3704481"/>
              <a:ext cx="7989887" cy="647700"/>
              <a:chOff x="1153424" y="6237435"/>
              <a:chExt cx="7990576" cy="648072"/>
            </a:xfrm>
          </p:grpSpPr>
          <p:sp>
            <p:nvSpPr>
              <p:cNvPr id="24" name="모서리가 둥근 직사각형 23"/>
              <p:cNvSpPr/>
              <p:nvPr/>
            </p:nvSpPr>
            <p:spPr>
              <a:xfrm>
                <a:off x="1430779" y="6831335"/>
                <a:ext cx="7713221" cy="45719"/>
              </a:xfrm>
              <a:prstGeom prst="roundRect">
                <a:avLst/>
              </a:prstGeom>
              <a:solidFill>
                <a:srgbClr val="FFC000"/>
              </a:solidFill>
              <a:ln w="28575">
                <a:noFill/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endParaRPr lang="ko-KR" altLang="en-US"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" name="타원 24"/>
              <p:cNvSpPr/>
              <p:nvPr/>
            </p:nvSpPr>
            <p:spPr bwMode="auto">
              <a:xfrm>
                <a:off x="1153424" y="6237435"/>
                <a:ext cx="648072" cy="648072"/>
              </a:xfrm>
              <a:prstGeom prst="ellipse">
                <a:avLst/>
              </a:prstGeom>
              <a:solidFill>
                <a:srgbClr val="00B0F0"/>
              </a:solidFill>
              <a:ln w="28575">
                <a:noFill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ko-KR" sz="1400" b="1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4</a:t>
                </a:r>
                <a:endParaRPr lang="ko-KR" altLang="en-US" sz="14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3" name="TextBox 133"/>
            <p:cNvSpPr txBox="1">
              <a:spLocks noChangeArrowheads="1"/>
            </p:cNvSpPr>
            <p:nvPr/>
          </p:nvSpPr>
          <p:spPr bwMode="auto">
            <a:xfrm>
              <a:off x="1895617" y="3770888"/>
              <a:ext cx="770485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0" lang="en-US" altLang="ko-KR" sz="2400" dirty="0" smtClean="0">
                  <a:latin typeface="Arial" pitchFamily="34" charset="0"/>
                  <a:ea typeface="휴먼모음T" pitchFamily="18" charset="-127"/>
                  <a:cs typeface="Arial" pitchFamily="34" charset="0"/>
                  <a:sym typeface="Wingdings" pitchFamily="2" charset="2"/>
                </a:rPr>
                <a:t>Platform</a:t>
              </a:r>
              <a:r>
                <a:rPr kumimoji="0" lang="ko-KR" altLang="en-US" sz="2400" dirty="0" smtClean="0">
                  <a:latin typeface="Arial" pitchFamily="34" charset="0"/>
                  <a:ea typeface="휴먼모음T" pitchFamily="18" charset="-127"/>
                  <a:cs typeface="Arial" pitchFamily="34" charset="0"/>
                  <a:sym typeface="Wingdings" pitchFamily="2" charset="2"/>
                </a:rPr>
                <a:t> </a:t>
              </a:r>
              <a:r>
                <a:rPr kumimoji="0" lang="en-US" altLang="ko-KR" sz="2400" dirty="0" smtClean="0">
                  <a:latin typeface="Arial" pitchFamily="34" charset="0"/>
                  <a:ea typeface="휴먼모음T" pitchFamily="18" charset="-127"/>
                  <a:cs typeface="Arial" pitchFamily="34" charset="0"/>
                  <a:sym typeface="Wingdings" pitchFamily="2" charset="2"/>
                </a:rPr>
                <a:t>Design Method &amp; Strategy </a:t>
              </a:r>
              <a:r>
                <a:rPr kumimoji="0" lang="en-US" altLang="ko-KR" sz="2000" dirty="0" smtClean="0">
                  <a:latin typeface="Arial" pitchFamily="34" charset="0"/>
                  <a:ea typeface="휴먼모음T" pitchFamily="18" charset="-127"/>
                  <a:cs typeface="Arial" pitchFamily="34" charset="0"/>
                  <a:sym typeface="Wingdings" pitchFamily="2" charset="2"/>
                </a:rPr>
                <a:t>(How to Design?) </a:t>
              </a:r>
            </a:p>
          </p:txBody>
        </p:sp>
      </p:grpSp>
      <p:grpSp>
        <p:nvGrpSpPr>
          <p:cNvPr id="26" name="그룹 136"/>
          <p:cNvGrpSpPr>
            <a:grpSpLocks/>
          </p:cNvGrpSpPr>
          <p:nvPr/>
        </p:nvGrpSpPr>
        <p:grpSpPr bwMode="auto">
          <a:xfrm>
            <a:off x="1063120" y="4629044"/>
            <a:ext cx="8425734" cy="647700"/>
            <a:chOff x="1103611" y="2696293"/>
            <a:chExt cx="8424861" cy="647700"/>
          </a:xfrm>
          <a:solidFill>
            <a:srgbClr val="0000FF"/>
          </a:solidFill>
        </p:grpSpPr>
        <p:grpSp>
          <p:nvGrpSpPr>
            <p:cNvPr id="27" name="그룹 153"/>
            <p:cNvGrpSpPr>
              <a:grpSpLocks/>
            </p:cNvGrpSpPr>
            <p:nvPr/>
          </p:nvGrpSpPr>
          <p:grpSpPr bwMode="auto">
            <a:xfrm>
              <a:off x="1103611" y="2696293"/>
              <a:ext cx="7989887" cy="647700"/>
              <a:chOff x="1153424" y="5229198"/>
              <a:chExt cx="7990576" cy="648072"/>
            </a:xfrm>
            <a:grpFill/>
          </p:grpSpPr>
          <p:sp>
            <p:nvSpPr>
              <p:cNvPr id="29" name="모서리가 둥근 직사각형 28"/>
              <p:cNvSpPr/>
              <p:nvPr/>
            </p:nvSpPr>
            <p:spPr>
              <a:xfrm>
                <a:off x="1430779" y="5819775"/>
                <a:ext cx="7713221" cy="45719"/>
              </a:xfrm>
              <a:prstGeom prst="roundRect">
                <a:avLst/>
              </a:prstGeom>
              <a:grpFill/>
              <a:ln w="28575">
                <a:noFill/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endParaRPr lang="ko-KR" altLang="en-US"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0" name="타원 29"/>
              <p:cNvSpPr/>
              <p:nvPr/>
            </p:nvSpPr>
            <p:spPr bwMode="auto">
              <a:xfrm rot="10800000" flipV="1">
                <a:off x="1153424" y="5229198"/>
                <a:ext cx="648074" cy="648072"/>
              </a:xfrm>
              <a:prstGeom prst="ellipse">
                <a:avLst/>
              </a:prstGeom>
              <a:solidFill>
                <a:srgbClr val="FF66FF"/>
              </a:solidFill>
              <a:ln w="28575">
                <a:noFill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ko-KR" sz="1400" b="1" dirty="0" smtClean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5</a:t>
                </a:r>
                <a:endParaRPr lang="ko-KR" altLang="en-US" sz="14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8" name="TextBox 172"/>
            <p:cNvSpPr txBox="1">
              <a:spLocks noChangeArrowheads="1"/>
            </p:cNvSpPr>
            <p:nvPr/>
          </p:nvSpPr>
          <p:spPr bwMode="auto">
            <a:xfrm>
              <a:off x="1823616" y="2762194"/>
              <a:ext cx="770485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0" lang="en-US" altLang="ko-KR" sz="2400" dirty="0" smtClean="0">
                  <a:latin typeface="Arial" pitchFamily="34" charset="0"/>
                  <a:ea typeface="휴먼모음T" pitchFamily="18" charset="-127"/>
                  <a:cs typeface="Arial" pitchFamily="34" charset="0"/>
                </a:rPr>
                <a:t>AI Platform Applications, Biz. Model and </a:t>
              </a:r>
              <a:r>
                <a:rPr kumimoji="0" lang="en-US" altLang="ko-KR" sz="2400" dirty="0" smtClean="0">
                  <a:solidFill>
                    <a:srgbClr val="0000FF"/>
                  </a:solidFill>
                  <a:latin typeface="Arial" pitchFamily="34" charset="0"/>
                  <a:ea typeface="휴먼모음T" pitchFamily="18" charset="-127"/>
                  <a:cs typeface="Arial" pitchFamily="34" charset="0"/>
                </a:rPr>
                <a:t>Start-Up</a:t>
              </a:r>
              <a:endParaRPr kumimoji="0" lang="en-US" altLang="ko-KR" sz="2400" dirty="0">
                <a:solidFill>
                  <a:srgbClr val="0000FF"/>
                </a:solidFill>
                <a:latin typeface="Arial" pitchFamily="34" charset="0"/>
                <a:ea typeface="휴먼모음T" pitchFamily="18" charset="-127"/>
                <a:cs typeface="Arial" pitchFamily="34" charset="0"/>
              </a:endParaRPr>
            </a:p>
          </p:txBody>
        </p:sp>
      </p:grpSp>
      <p:grpSp>
        <p:nvGrpSpPr>
          <p:cNvPr id="31" name="그룹 136"/>
          <p:cNvGrpSpPr>
            <a:grpSpLocks/>
          </p:cNvGrpSpPr>
          <p:nvPr/>
        </p:nvGrpSpPr>
        <p:grpSpPr bwMode="auto">
          <a:xfrm>
            <a:off x="1063120" y="5487943"/>
            <a:ext cx="8425734" cy="647700"/>
            <a:chOff x="1103611" y="2696293"/>
            <a:chExt cx="8424861" cy="647700"/>
          </a:xfrm>
        </p:grpSpPr>
        <p:grpSp>
          <p:nvGrpSpPr>
            <p:cNvPr id="32" name="그룹 153"/>
            <p:cNvGrpSpPr>
              <a:grpSpLocks/>
            </p:cNvGrpSpPr>
            <p:nvPr/>
          </p:nvGrpSpPr>
          <p:grpSpPr bwMode="auto">
            <a:xfrm>
              <a:off x="1103611" y="2696293"/>
              <a:ext cx="7989887" cy="647700"/>
              <a:chOff x="1153424" y="5229198"/>
              <a:chExt cx="7990576" cy="648072"/>
            </a:xfrm>
          </p:grpSpPr>
          <p:sp>
            <p:nvSpPr>
              <p:cNvPr id="34" name="모서리가 둥근 직사각형 33"/>
              <p:cNvSpPr/>
              <p:nvPr/>
            </p:nvSpPr>
            <p:spPr>
              <a:xfrm>
                <a:off x="1430779" y="5819775"/>
                <a:ext cx="7713221" cy="45719"/>
              </a:xfrm>
              <a:prstGeom prst="roundRect">
                <a:avLst/>
              </a:prstGeom>
              <a:solidFill>
                <a:srgbClr val="82B000"/>
              </a:solidFill>
              <a:ln w="28575">
                <a:noFill/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endParaRPr lang="ko-KR" altLang="en-US" sz="140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6" name="타원 35"/>
              <p:cNvSpPr/>
              <p:nvPr/>
            </p:nvSpPr>
            <p:spPr bwMode="auto">
              <a:xfrm rot="10800000" flipV="1">
                <a:off x="1153424" y="5229198"/>
                <a:ext cx="648074" cy="64807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noFill/>
                <a:headEnd/>
                <a:tailEnd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ko-KR" sz="1400" b="1" dirty="0"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rPr>
                  <a:t>6</a:t>
                </a:r>
                <a:endParaRPr lang="ko-KR" altLang="en-US" sz="14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33" name="TextBox 172"/>
            <p:cNvSpPr txBox="1">
              <a:spLocks noChangeArrowheads="1"/>
            </p:cNvSpPr>
            <p:nvPr/>
          </p:nvSpPr>
          <p:spPr bwMode="auto">
            <a:xfrm>
              <a:off x="1823616" y="2762194"/>
              <a:ext cx="770485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0" lang="en-US" altLang="ko-KR" sz="2400" dirty="0" smtClean="0">
                  <a:latin typeface="Arial" pitchFamily="34" charset="0"/>
                  <a:ea typeface="휴먼모음T" pitchFamily="18" charset="-127"/>
                  <a:cs typeface="Arial" pitchFamily="34" charset="0"/>
                  <a:sym typeface="Wingdings" pitchFamily="2" charset="2"/>
                </a:rPr>
                <a:t>AI Platform Project </a:t>
              </a:r>
              <a:r>
                <a:rPr kumimoji="0" lang="en-US" altLang="ko-KR" sz="2000" dirty="0" smtClean="0">
                  <a:latin typeface="Arial" pitchFamily="34" charset="0"/>
                  <a:ea typeface="휴먼모음T" pitchFamily="18" charset="-127"/>
                  <a:cs typeface="Arial" pitchFamily="34" charset="0"/>
                  <a:sym typeface="Wingdings" pitchFamily="2" charset="2"/>
                </a:rPr>
                <a:t>(Platform Architecture + Biz. Model) </a:t>
              </a:r>
              <a:endParaRPr kumimoji="0" lang="en-US" altLang="ko-KR" sz="2000" dirty="0">
                <a:latin typeface="Arial" pitchFamily="34" charset="0"/>
                <a:ea typeface="휴먼모음T" pitchFamily="18" charset="-127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1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1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1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1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1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1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200472" y="230125"/>
            <a:ext cx="9433048" cy="6480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2520" y="1062940"/>
            <a:ext cx="8712968" cy="5324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Introduction of Syllabus (An outline of the subjects in a course)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4</a:t>
            </a:r>
            <a:r>
              <a:rPr lang="en-US" altLang="ko-KR" sz="2000" b="1" baseline="300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</a:t>
            </a: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Industrial </a:t>
            </a: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revolution and required technology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Artificial Intelligence Convergence Platform </a:t>
            </a: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Case Study I such as The nations of delivery, Uber and </a:t>
            </a:r>
            <a:r>
              <a:rPr lang="en-US" altLang="ko-KR" sz="2000" b="1" dirty="0" err="1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Kakao</a:t>
            </a: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etc.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Case Study II such as Amazon and Airbnb etc.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Strategy for Future platform design and Characteristics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Success factors and key functions for future platform</a:t>
            </a:r>
            <a:endParaRPr lang="en-US" altLang="ko-KR" sz="2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Midterm test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Future platform design and implementation plan #1 (modularization and development framework PDLC</a:t>
            </a: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Future platform design and implementation plan </a:t>
            </a: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#2 (</a:t>
            </a: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Development framework PDLC: design and implementation</a:t>
            </a: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Subscription Economy and Sharing Economy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AI Convergence Platform 1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AI Convergence Platform 2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Group </a:t>
            </a: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discussion </a:t>
            </a: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and presentation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0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Final Exam</a:t>
            </a:r>
            <a:endParaRPr lang="en-US" altLang="ko-KR" sz="2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488504" y="230125"/>
            <a:ext cx="5760640" cy="832815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b="1" dirty="0" smtClean="0"/>
              <a:t>W</a:t>
            </a:r>
            <a:r>
              <a:rPr kumimoji="0" lang="en-US" altLang="ko-KR" sz="2700" b="1" dirty="0" smtClean="0"/>
              <a:t>eekly Lecture Topics (Syllabus)</a:t>
            </a:r>
            <a:endParaRPr kumimoji="0"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8548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ine 40"/>
          <p:cNvSpPr>
            <a:spLocks noChangeShapeType="1"/>
          </p:cNvSpPr>
          <p:nvPr/>
        </p:nvSpPr>
        <p:spPr bwMode="gray">
          <a:xfrm>
            <a:off x="7261995" y="3923407"/>
            <a:ext cx="587375" cy="0"/>
          </a:xfrm>
          <a:prstGeom prst="line">
            <a:avLst/>
          </a:prstGeom>
          <a:noFill/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ko-KR" altLang="en-US"/>
          </a:p>
        </p:txBody>
      </p:sp>
      <p:sp>
        <p:nvSpPr>
          <p:cNvPr id="33" name="Line 41"/>
          <p:cNvSpPr>
            <a:spLocks noChangeShapeType="1"/>
          </p:cNvSpPr>
          <p:nvPr/>
        </p:nvSpPr>
        <p:spPr bwMode="gray">
          <a:xfrm flipV="1">
            <a:off x="6885756" y="3923408"/>
            <a:ext cx="376238" cy="333375"/>
          </a:xfrm>
          <a:prstGeom prst="line">
            <a:avLst/>
          </a:prstGeom>
          <a:noFill/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ko-KR" altLang="en-US"/>
          </a:p>
        </p:txBody>
      </p:sp>
      <p:sp>
        <p:nvSpPr>
          <p:cNvPr id="36" name="Line 40"/>
          <p:cNvSpPr>
            <a:spLocks noChangeShapeType="1"/>
          </p:cNvSpPr>
          <p:nvPr/>
        </p:nvSpPr>
        <p:spPr bwMode="gray">
          <a:xfrm rot="13500000">
            <a:off x="1575569" y="4555232"/>
            <a:ext cx="539750" cy="0"/>
          </a:xfrm>
          <a:prstGeom prst="line">
            <a:avLst/>
          </a:prstGeom>
          <a:noFill/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latinLnBrk="0">
              <a:defRPr/>
            </a:pPr>
            <a:endParaRPr kumimoji="0" lang="ko-KR" altLang="en-US">
              <a:latin typeface="Arial" charset="0"/>
              <a:ea typeface="+mn-ea"/>
            </a:endParaRPr>
          </a:p>
        </p:txBody>
      </p:sp>
      <p:sp>
        <p:nvSpPr>
          <p:cNvPr id="37" name="Line 41"/>
          <p:cNvSpPr>
            <a:spLocks noChangeShapeType="1"/>
          </p:cNvSpPr>
          <p:nvPr/>
        </p:nvSpPr>
        <p:spPr bwMode="gray">
          <a:xfrm rot="13500000" flipV="1">
            <a:off x="2174057" y="4428232"/>
            <a:ext cx="587375" cy="623888"/>
          </a:xfrm>
          <a:prstGeom prst="line">
            <a:avLst/>
          </a:prstGeom>
          <a:noFill/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latinLnBrk="0">
              <a:defRPr/>
            </a:pPr>
            <a:endParaRPr kumimoji="0" lang="ko-KR" altLang="en-US">
              <a:latin typeface="Arial" charset="0"/>
              <a:ea typeface="+mn-ea"/>
            </a:endParaRPr>
          </a:p>
        </p:txBody>
      </p:sp>
      <p:sp>
        <p:nvSpPr>
          <p:cNvPr id="38" name="Line 40"/>
          <p:cNvSpPr>
            <a:spLocks noChangeShapeType="1"/>
          </p:cNvSpPr>
          <p:nvPr/>
        </p:nvSpPr>
        <p:spPr bwMode="gray">
          <a:xfrm>
            <a:off x="6135689" y="1520825"/>
            <a:ext cx="587375" cy="0"/>
          </a:xfrm>
          <a:prstGeom prst="line">
            <a:avLst/>
          </a:prstGeom>
          <a:noFill/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ko-KR" altLang="en-US"/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gray">
          <a:xfrm flipV="1">
            <a:off x="5449889" y="1520825"/>
            <a:ext cx="687387" cy="622300"/>
          </a:xfrm>
          <a:prstGeom prst="line">
            <a:avLst/>
          </a:prstGeom>
          <a:noFill/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72480" y="457765"/>
            <a:ext cx="297023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ko-KR" sz="3200" b="1" dirty="0" smtClean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Evaluation</a:t>
            </a:r>
            <a:endParaRPr lang="en-US" altLang="ko-KR" sz="3200" b="1" dirty="0">
              <a:solidFill>
                <a:srgbClr val="0000FF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4488" y="1124744"/>
            <a:ext cx="8712968" cy="5324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Exams (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40%)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Midterm exam (30%)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Final test (10%)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altLang="ko-KR" sz="20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Only one Homework Assignments (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%)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(Penalty) 20~50% deduction depending on the date submitted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ko-KR" sz="20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Group project 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45%)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0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 proposal (5%) 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 final document(30%) + presentation(10%)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Any topic related to AI platform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3~4 persons per each team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Members of the same team may have different points depending on  the self-evaluation of each team with a total 100%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Class Attendance (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10%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1% deduction per absence, 0.5% deduction per late </a:t>
            </a:r>
            <a:r>
              <a:rPr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attendance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765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44466" y="142875"/>
            <a:ext cx="9612312" cy="6572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44488" y="548680"/>
            <a:ext cx="62646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Announcement/Notice</a:t>
            </a:r>
            <a:endParaRPr kumimoji="0" lang="ko-KR" altLang="en-US" sz="32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8504" y="1268760"/>
            <a:ext cx="9001000" cy="5078313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2400" b="1" dirty="0">
                <a:latin typeface="+mn-ea"/>
              </a:rPr>
              <a:t>Project Based Learning </a:t>
            </a:r>
            <a:r>
              <a:rPr lang="en-US" altLang="ko-KR" sz="2400" b="1" dirty="0" smtClean="0">
                <a:latin typeface="+mn-ea"/>
                <a:ea typeface="+mn-ea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2400" b="1" dirty="0" smtClean="0">
                <a:latin typeface="+mn-ea"/>
                <a:ea typeface="+mn-ea"/>
              </a:rPr>
              <a:t>FAIR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2400" b="1" dirty="0" smtClean="0">
                <a:latin typeface="+mn-ea"/>
                <a:ea typeface="+mn-ea"/>
              </a:rPr>
              <a:t>Please follow our class rules and keep common sense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2400" b="1" dirty="0" smtClean="0">
                <a:solidFill>
                  <a:srgbClr val="0000FF"/>
                </a:solidFill>
                <a:latin typeface="+mn-ea"/>
                <a:ea typeface="+mn-ea"/>
              </a:rPr>
              <a:t>Communication </a:t>
            </a:r>
            <a:r>
              <a:rPr lang="en-US" altLang="ko-KR" sz="2400" b="1" dirty="0" smtClean="0">
                <a:latin typeface="+mn-ea"/>
                <a:ea typeface="+mn-ea"/>
              </a:rPr>
              <a:t>mainly use </a:t>
            </a:r>
            <a:r>
              <a:rPr lang="en-US" altLang="ko-KR" sz="2400" b="1" dirty="0" err="1" smtClean="0">
                <a:latin typeface="+mn-ea"/>
                <a:ea typeface="+mn-ea"/>
              </a:rPr>
              <a:t>Kakao</a:t>
            </a:r>
            <a:r>
              <a:rPr lang="en-US" altLang="ko-KR" sz="2400" b="1" dirty="0" smtClean="0">
                <a:latin typeface="+mn-ea"/>
                <a:ea typeface="+mn-ea"/>
              </a:rPr>
              <a:t> Talk and eLearning campus notices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2400" b="1" dirty="0" smtClean="0">
                <a:latin typeface="+mn-ea"/>
                <a:ea typeface="+mn-ea"/>
              </a:rPr>
              <a:t>Learning how to design AI Convergence Platform with business model/strategy rather than learning programming/coding techniques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2400" b="1" dirty="0" smtClean="0">
                <a:latin typeface="+mn-ea"/>
                <a:ea typeface="+mn-ea"/>
              </a:rPr>
              <a:t>Stay to be fun, be enjoyable and be productive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00"/>
                            </p:stCondLst>
                            <p:childTnLst>
                              <p:par>
                                <p:cTn id="1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44466" y="142875"/>
            <a:ext cx="9612312" cy="6572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04527" y="5290068"/>
            <a:ext cx="8870088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 smtClean="0">
                <a:solidFill>
                  <a:schemeClr val="bg1"/>
                </a:solidFill>
                <a:latin typeface="+mn-ea"/>
                <a:ea typeface="+mn-ea"/>
                <a:sym typeface="Wingdings" panose="05000000000000000000" pitchFamily="2" charset="2"/>
              </a:rPr>
              <a:t> Success consists of going from failure to failure without loss of enthusiasm. </a:t>
            </a:r>
            <a:r>
              <a:rPr lang="en-US" altLang="ko-KR" sz="3200" b="1" dirty="0" smtClean="0">
                <a:solidFill>
                  <a:srgbClr val="FF0000"/>
                </a:solidFill>
                <a:latin typeface="+mn-ea"/>
                <a:ea typeface="+mn-ea"/>
                <a:sym typeface="Wingdings" panose="05000000000000000000" pitchFamily="2" charset="2"/>
              </a:rPr>
              <a:t>Never, Never, Never give up !! </a:t>
            </a:r>
            <a:endParaRPr lang="en-US" altLang="ko-KR" sz="3200" b="1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65" y="906305"/>
            <a:ext cx="8208913" cy="409443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8393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44466" y="142875"/>
            <a:ext cx="9612312" cy="657225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863454" y="5688013"/>
            <a:ext cx="6655594" cy="7413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anchor="ctr"/>
          <a:lstStyle/>
          <a:p>
            <a:pPr algn="r" fontAlgn="auto">
              <a:spcAft>
                <a:spcPts val="0"/>
              </a:spcAft>
              <a:defRPr/>
            </a:pPr>
            <a:r>
              <a:rPr kumimoji="0" lang="en-US" altLang="ko-KR" sz="4800" dirty="0">
                <a:solidFill>
                  <a:srgbClr val="FFC000"/>
                </a:solidFill>
                <a:latin typeface="Arial Black" pitchFamily="34" charset="0"/>
                <a:ea typeface="+mj-ea"/>
                <a:cs typeface="+mj-cs"/>
              </a:rPr>
              <a:t>T</a:t>
            </a:r>
            <a:r>
              <a:rPr kumimoji="0" lang="en-US" altLang="ko-KR" sz="4800" dirty="0">
                <a:solidFill>
                  <a:schemeClr val="bg1"/>
                </a:solidFill>
                <a:latin typeface="Arial Black" pitchFamily="34" charset="0"/>
                <a:ea typeface="+mj-ea"/>
                <a:cs typeface="+mj-cs"/>
              </a:rPr>
              <a:t>hank  </a:t>
            </a:r>
            <a:r>
              <a:rPr kumimoji="0" lang="en-US" altLang="ko-KR" sz="4800" dirty="0" smtClean="0">
                <a:solidFill>
                  <a:schemeClr val="bg1"/>
                </a:solidFill>
                <a:latin typeface="Arial Black" pitchFamily="34" charset="0"/>
                <a:ea typeface="+mj-ea"/>
                <a:cs typeface="+mj-cs"/>
              </a:rPr>
              <a:t>you ^^</a:t>
            </a:r>
            <a:endParaRPr kumimoji="0" lang="en-US" altLang="ko-KR" sz="4800" dirty="0">
              <a:solidFill>
                <a:schemeClr val="bg1"/>
              </a:solidFill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9199</TotalTime>
  <Words>829</Words>
  <Application>Microsoft Office PowerPoint</Application>
  <PresentationFormat>A4 용지(210x297mm)</PresentationFormat>
  <Paragraphs>104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9" baseType="lpstr">
      <vt:lpstr>HY견명조</vt:lpstr>
      <vt:lpstr>굴림</vt:lpstr>
      <vt:lpstr>맑은 고딕</vt:lpstr>
      <vt:lpstr>문체부 제목 바탕체</vt:lpstr>
      <vt:lpstr>함초롬바탕</vt:lpstr>
      <vt:lpstr>휴먼모음T</vt:lpstr>
      <vt:lpstr>Arial</vt:lpstr>
      <vt:lpstr>Arial Black</vt:lpstr>
      <vt:lpstr>Book Antiqua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DKU</cp:lastModifiedBy>
  <cp:revision>406</cp:revision>
  <cp:lastPrinted>2022-08-18T08:46:46Z</cp:lastPrinted>
  <dcterms:created xsi:type="dcterms:W3CDTF">2011-04-26T01:15:37Z</dcterms:created>
  <dcterms:modified xsi:type="dcterms:W3CDTF">2025-08-25T05:08:38Z</dcterms:modified>
</cp:coreProperties>
</file>